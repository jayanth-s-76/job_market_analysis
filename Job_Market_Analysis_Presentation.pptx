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Top States by Job Count</a:t>
            </a:r>
          </a:p>
        </c:rich>
      </c:tx>
      <c:layout/>
      <c:overlay val="0"/>
    </c:title>
    <c:autoTitleDeleted val="0"/>
    <c:plotArea>
      <c:layout/>
      <c:barChart>
        <c:barDir val="bar"/>
        <c:grouping val="clustered"/>
        <c:varyColors val="0"/>
        <c:ser>
          <c:idx val="0"/>
          <c:order val="0"/>
          <c:tx>
            <c:strRef>
              <c:f>Sheet1!$B$1</c:f>
              <c:strCache>
                <c:ptCount val="1"/>
                <c:pt idx="0">
                  <c:v>Job Count</c:v>
                </c:pt>
              </c:strCache>
            </c:strRef>
          </c:tx>
          <c:spPr>
            <a:solidFill>
              <a:srgbClr val="58A6FF"/>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California</c:v>
                  </c:pt>
                  <c:pt idx="1">
                    <c:v>Massachusetts</c:v>
                  </c:pt>
                  <c:pt idx="2">
                    <c:v>New York</c:v>
                  </c:pt>
                  <c:pt idx="3">
                    <c:v>Virginia</c:v>
                  </c:pt>
                  <c:pt idx="4">
                    <c:v>Illinois</c:v>
                  </c:pt>
                  <c:pt idx="5">
                    <c:v>Maryland</c:v>
                  </c:pt>
                </c:lvl>
              </c:multiLvlStrCache>
            </c:multiLvlStrRef>
          </c:cat>
          <c:val>
            <c:numRef>
              <c:f>Sheet1!$B$2:$B$7</c:f>
              <c:numCache>
                <c:formatCode>General</c:formatCode>
                <c:ptCount val="6"/>
                <c:pt idx="0">
                  <c:v>98</c:v>
                </c:pt>
                <c:pt idx="1">
                  <c:v>60</c:v>
                </c:pt>
                <c:pt idx="2">
                  <c:v>46</c:v>
                </c:pt>
                <c:pt idx="3">
                  <c:v>30</c:v>
                </c:pt>
                <c:pt idx="4">
                  <c:v>22</c:v>
                </c:pt>
                <c:pt idx="5">
                  <c:v>22</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9D1D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33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C2333"/>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Avg Max Salary by State ($K)</a:t>
            </a:r>
          </a:p>
        </c:rich>
      </c:tx>
      <c:layout/>
      <c:overlay val="0"/>
    </c:title>
    <c:autoTitleDeleted val="0"/>
    <c:plotArea>
      <c:layout/>
      <c:barChart>
        <c:barDir val="bar"/>
        <c:grouping val="clustered"/>
        <c:varyColors val="0"/>
        <c:ser>
          <c:idx val="0"/>
          <c:order val="0"/>
          <c:tx>
            <c:strRef>
              <c:f>Sheet1!$B$1</c:f>
              <c:strCache>
                <c:ptCount val="1"/>
                <c:pt idx="0">
                  <c:v>Avg Max Salary (K)</c:v>
                </c:pt>
              </c:strCache>
            </c:strRef>
          </c:tx>
          <c:spPr>
            <a:solidFill>
              <a:srgbClr val="39D0D8"/>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California</c:v>
                  </c:pt>
                  <c:pt idx="1">
                    <c:v>Illinois</c:v>
                  </c:pt>
                  <c:pt idx="2">
                    <c:v>Massachusetts</c:v>
                  </c:pt>
                  <c:pt idx="3">
                    <c:v>Maryland</c:v>
                  </c:pt>
                  <c:pt idx="4">
                    <c:v>New York</c:v>
                  </c:pt>
                  <c:pt idx="5">
                    <c:v>Virginia</c:v>
                  </c:pt>
                </c:lvl>
              </c:multiLvlStrCache>
            </c:multiLvlStrRef>
          </c:cat>
          <c:val>
            <c:numRef>
              <c:f>Sheet1!$B$2:$B$7</c:f>
              <c:numCache>
                <c:formatCode>General</c:formatCode>
                <c:ptCount val="6"/>
                <c:pt idx="0">
                  <c:v>157</c:v>
                </c:pt>
                <c:pt idx="1">
                  <c:v>140</c:v>
                </c:pt>
                <c:pt idx="2">
                  <c:v>134</c:v>
                </c:pt>
                <c:pt idx="3">
                  <c:v>127</c:v>
                </c:pt>
                <c:pt idx="4">
                  <c:v>126</c:v>
                </c:pt>
                <c:pt idx="5">
                  <c:v>124</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9D1D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33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C2333"/>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Top 5 Industries — Data Science Jobs</a:t>
            </a:r>
          </a:p>
        </c:rich>
      </c:tx>
      <c:layout/>
      <c:overlay val="0"/>
    </c:title>
    <c:autoTitleDeleted val="0"/>
    <c:plotArea>
      <c:layout/>
      <c:pieChart>
        <c:varyColors val="1"/>
        <c:ser>
          <c:idx val="0"/>
          <c:order val="0"/>
          <c:tx>
            <c:strRef>
              <c:f>Sheet1!$B$1</c:f>
              <c:strCache>
                <c:ptCount val="1"/>
                <c:pt idx="0">
                  <c:v>Industry Jobs</c:v>
                </c:pt>
              </c:strCache>
            </c:strRef>
          </c:tx>
          <c:spPr>
            <a:solidFill>
              <a:schemeClr val="accent1"/>
            </a:solidFill>
            <a:ln w="9525" cap="flat">
              <a:solidFill>
                <a:srgbClr val="F9F9F9"/>
              </a:solidFill>
              <a:prstDash val="solid"/>
              <a:round/>
            </a:ln>
            <a:effectLst/>
          </c:spPr>
          <c:dPt>
            <c:idx val="0"/>
            <c:bubble3D val="0"/>
            <c:spPr>
              <a:solidFill>
                <a:srgbClr val="58A6FF"/>
              </a:solidFill>
              <a:effectLst/>
            </c:spPr>
          </c:dPt>
          <c:dPt>
            <c:idx val="1"/>
            <c:bubble3D val="0"/>
            <c:spPr>
              <a:solidFill>
                <a:srgbClr val="39D0D8"/>
              </a:solidFill>
              <a:effectLst/>
            </c:spPr>
          </c:dPt>
          <c:dPt>
            <c:idx val="2"/>
            <c:bubble3D val="0"/>
            <c:spPr>
              <a:solidFill>
                <a:srgbClr val="3FB950"/>
              </a:solidFill>
              <a:effectLst/>
            </c:spPr>
          </c:dPt>
          <c:dPt>
            <c:idx val="3"/>
            <c:bubble3D val="0"/>
            <c:spPr>
              <a:solidFill>
                <a:srgbClr val="F78166"/>
              </a:solidFill>
              <a:effectLst/>
            </c:spPr>
          </c:dPt>
          <c:dPt>
            <c:idx val="4"/>
            <c:bubble3D val="0"/>
            <c:spPr>
              <a:solidFill>
                <a:srgbClr val="A371F7"/>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Biotech &amp; Pharma</c:v>
                </c:pt>
                <c:pt idx="1">
                  <c:v>Enterprise Software</c:v>
                </c:pt>
                <c:pt idx="2">
                  <c:v>IT Services</c:v>
                </c:pt>
                <c:pt idx="3">
                  <c:v>Insurance Carriers</c:v>
                </c:pt>
                <c:pt idx="4">
                  <c:v>Computer Hardware</c:v>
                </c:pt>
              </c:strCache>
            </c:strRef>
          </c:cat>
          <c:val>
            <c:numRef>
              <c:f>Sheet1!$B$2:$B$6</c:f>
              <c:numCache>
                <c:ptCount val="5"/>
                <c:pt idx="0">
                  <c:v>24</c:v>
                </c:pt>
                <c:pt idx="1">
                  <c:v>19</c:v>
                </c:pt>
                <c:pt idx="2">
                  <c:v>17</c:v>
                </c:pt>
                <c:pt idx="3">
                  <c:v>17</c:v>
                </c:pt>
                <c:pt idx="4">
                  <c:v>17</c:v>
                </c:pt>
              </c:numCache>
            </c:numRef>
          </c:val>
        </c:ser>
        <c:firstSliceAng val="0"/>
      </c:pieChart>
      <c:spPr>
        <a:noFill/>
        <a:ln>
          <a:noFill/>
        </a:ln>
        <a:effectLst/>
      </c:spPr>
    </c:plotArea>
    <c:legend>
      <c:legendPos val="b"/>
      <c:overlay val="0"/>
      <c:txPr>
        <a:bodyPr/>
        <a:lstStyle/>
        <a:p>
          <a:pPr>
            <a:defRPr sz="900">
              <a:solidFill>
                <a:srgbClr val="C9D1D9"/>
              </a:solidFill>
            </a:defRPr>
          </a:pPr>
          <a:endParaRPr lang="en-US"/>
        </a:p>
      </c:txPr>
    </c:legend>
    <c:plotVisOnly val="1"/>
    <c:dispBlanksAs val="span"/>
  </c:chart>
  <c:spPr>
    <a:solidFill>
      <a:srgbClr val="1C2333"/>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Most Required Technical Skills</a:t>
            </a:r>
          </a:p>
        </c:rich>
      </c:tx>
      <c:layout/>
      <c:overlay val="0"/>
    </c:title>
    <c:autoTitleDeleted val="0"/>
    <c:plotArea>
      <c:layout/>
      <c:barChart>
        <c:barDir val="bar"/>
        <c:grouping val="clustered"/>
        <c:varyColors val="0"/>
        <c:ser>
          <c:idx val="0"/>
          <c:order val="0"/>
          <c:tx>
            <c:strRef>
              <c:f>Sheet1!$B$1</c:f>
              <c:strCache>
                <c:ptCount val="1"/>
                <c:pt idx="0">
                  <c:v>Skill Mentions</c:v>
                </c:pt>
              </c:strCache>
            </c:strRef>
          </c:tx>
          <c:spPr>
            <a:solidFill>
              <a:srgbClr val="3FB950"/>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Python</c:v>
                  </c:pt>
                  <c:pt idx="1">
                    <c:v>SQL</c:v>
                  </c:pt>
                  <c:pt idx="2">
                    <c:v>Excel</c:v>
                  </c:pt>
                  <c:pt idx="3">
                    <c:v>Spark</c:v>
                  </c:pt>
                  <c:pt idx="4">
                    <c:v>Tableau</c:v>
                  </c:pt>
                  <c:pt idx="5">
                    <c:v>AWS</c:v>
                  </c:pt>
                  <c:pt idx="6">
                    <c:v>Keras</c:v>
                  </c:pt>
                  <c:pt idx="7">
                    <c:v>PyTorch</c:v>
                  </c:pt>
                </c:lvl>
              </c:multiLvlStrCache>
            </c:multiLvlStrRef>
          </c:cat>
          <c:val>
            <c:numRef>
              <c:f>Sheet1!$B$2:$B$9</c:f>
              <c:numCache>
                <c:formatCode>General</c:formatCode>
                <c:ptCount val="8"/>
                <c:pt idx="0">
                  <c:v>258</c:v>
                </c:pt>
                <c:pt idx="1">
                  <c:v>253</c:v>
                </c:pt>
                <c:pt idx="2">
                  <c:v>249</c:v>
                </c:pt>
                <c:pt idx="3">
                  <c:v>111</c:v>
                </c:pt>
                <c:pt idx="4">
                  <c:v>98</c:v>
                </c:pt>
                <c:pt idx="5">
                  <c:v>111</c:v>
                </c:pt>
                <c:pt idx="6">
                  <c:v>19</c:v>
                </c:pt>
                <c:pt idx="7">
                  <c:v>24</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9D1D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33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C2333"/>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Max Salary by Role ($K)</a:t>
            </a:r>
          </a:p>
        </c:rich>
      </c:tx>
      <c:layout/>
      <c:overlay val="0"/>
    </c:title>
    <c:autoTitleDeleted val="0"/>
    <c:plotArea>
      <c:layout/>
      <c:barChart>
        <c:barDir val="bar"/>
        <c:grouping val="clustered"/>
        <c:varyColors val="0"/>
        <c:ser>
          <c:idx val="0"/>
          <c:order val="0"/>
          <c:tx>
            <c:strRef>
              <c:f>Sheet1!$B$1</c:f>
              <c:strCache>
                <c:ptCount val="1"/>
                <c:pt idx="0">
                  <c:v>Max Salary</c:v>
                </c:pt>
              </c:strCache>
            </c:strRef>
          </c:tx>
          <c:spPr>
            <a:solidFill>
              <a:srgbClr val="58A6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Data Scientist</c:v>
                  </c:pt>
                  <c:pt idx="1">
                    <c:v>ML Engineer</c:v>
                  </c:pt>
                  <c:pt idx="2">
                    <c:v>Data Engineer</c:v>
                  </c:pt>
                  <c:pt idx="3">
                    <c:v>Data Analyst</c:v>
                  </c:pt>
                  <c:pt idx="4">
                    <c:v>Director</c:v>
                  </c:pt>
                </c:lvl>
              </c:multiLvlStrCache>
            </c:multiLvlStrRef>
          </c:cat>
          <c:val>
            <c:numRef>
              <c:f>Sheet1!$B$2:$B$6</c:f>
              <c:numCache>
                <c:formatCode>General</c:formatCode>
                <c:ptCount val="5"/>
                <c:pt idx="0">
                  <c:v>225</c:v>
                </c:pt>
                <c:pt idx="1">
                  <c:v>215</c:v>
                </c:pt>
                <c:pt idx="2">
                  <c:v>200</c:v>
                </c:pt>
                <c:pt idx="3">
                  <c:v>175</c:v>
                </c:pt>
                <c:pt idx="4">
                  <c:v>250</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9D1D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D333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C2333"/>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Segoe UI Semibold"/>
              </a:defRPr>
            </a:pPr>
            <a:r>
              <a:rPr sz="1200" b="0" i="0" u="none" strike="noStrike">
                <a:solidFill>
                  <a:srgbClr val="FFFFFF"/>
                </a:solidFill>
                <a:latin typeface="Segoe UI Semibold"/>
              </a:rPr>
              <a:t>Average Salary by Degree Level ($K)</a:t>
            </a:r>
          </a:p>
        </c:rich>
      </c:tx>
      <c:layout/>
      <c:overlay val="0"/>
    </c:title>
    <c:autoTitleDeleted val="0"/>
    <c:plotArea>
      <c:layout/>
      <c:doughnutChart>
        <c:varyColors val="1"/>
        <c:ser>
          <c:idx val="0"/>
          <c:order val="0"/>
          <c:tx>
            <c:strRef>
              <c:f>Sheet1!$B$1</c:f>
              <c:strCache>
                <c:ptCount val="1"/>
                <c:pt idx="0">
                  <c:v>Avg Salary</c:v>
                </c:pt>
              </c:strCache>
            </c:strRef>
          </c:tx>
          <c:spPr>
            <a:solidFill>
              <a:schemeClr val="accent1"/>
            </a:solidFill>
            <a:ln w="9525" cap="flat">
              <a:solidFill>
                <a:srgbClr val="F9F9F9"/>
              </a:solidFill>
              <a:prstDash val="solid"/>
              <a:round/>
            </a:ln>
            <a:effectLst/>
          </c:spPr>
          <c:dPt>
            <c:idx val="0"/>
            <c:bubble3D val="0"/>
            <c:spPr>
              <a:solidFill>
                <a:srgbClr val="A371F7"/>
              </a:solidFill>
              <a:effectLst/>
            </c:spPr>
          </c:dPt>
          <c:dPt>
            <c:idx val="1"/>
            <c:bubble3D val="0"/>
            <c:spPr>
              <a:solidFill>
                <a:srgbClr val="58A6FF"/>
              </a:solidFill>
              <a:effectLst/>
            </c:spPr>
          </c:dPt>
          <c:dPt>
            <c:idx val="2"/>
            <c:bubble3D val="0"/>
            <c:spPr>
              <a:solidFill>
                <a:srgbClr val="39D0D8"/>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PhD</c:v>
                </c:pt>
                <c:pt idx="1">
                  <c:v>Masters</c:v>
                </c:pt>
                <c:pt idx="2">
                  <c:v>Not Applicable</c:v>
                </c:pt>
              </c:strCache>
            </c:strRef>
          </c:cat>
          <c:val>
            <c:numRef>
              <c:f>Sheet1!$B$2:$B$4</c:f>
              <c:numCache>
                <c:ptCount val="3"/>
                <c:pt idx="0">
                  <c:v>134.11</c:v>
                </c:pt>
                <c:pt idx="1">
                  <c:v>108.15</c:v>
                </c:pt>
                <c:pt idx="2">
                  <c:v>101.53</c:v>
                </c:pt>
              </c:numCache>
            </c:numRef>
          </c:val>
        </c:ser>
        <c:firstSliceAng val="0"/>
        <c:holeSize val="50"/>
      </c:doughnutChart>
      <c:spPr>
        <a:noFill/>
        <a:ln>
          <a:noFill/>
        </a:ln>
        <a:effectLst/>
      </c:spPr>
    </c:plotArea>
    <c:legend>
      <c:legendPos val="b"/>
      <c:overlay val="0"/>
      <c:txPr>
        <a:bodyPr/>
        <a:lstStyle/>
        <a:p>
          <a:pPr>
            <a:defRPr sz="1000">
              <a:solidFill>
                <a:srgbClr val="C9D1D9"/>
              </a:solidFill>
            </a:defRPr>
          </a:pPr>
          <a:endParaRPr lang="en-US"/>
        </a:p>
      </c:txPr>
    </c:legend>
    <c:plotVisOnly val="1"/>
    <c:dispBlanksAs val="span"/>
  </c:chart>
  <c:spPr>
    <a:solidFill>
      <a:srgbClr val="1C233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8A6FF"/>
          </a:solidFill>
          <a:ln/>
        </p:spPr>
      </p:sp>
      <p:sp>
        <p:nvSpPr>
          <p:cNvPr id="3" name="Shape 1"/>
          <p:cNvSpPr/>
          <p:nvPr/>
        </p:nvSpPr>
        <p:spPr>
          <a:xfrm>
            <a:off x="0" y="0"/>
            <a:ext cx="5303520" cy="5143500"/>
          </a:xfrm>
          <a:prstGeom prst="rect">
            <a:avLst/>
          </a:prstGeom>
          <a:solidFill>
            <a:srgbClr val="161B22"/>
          </a:solidFill>
          <a:ln/>
        </p:spPr>
      </p:sp>
      <p:sp>
        <p:nvSpPr>
          <p:cNvPr id="4" name="Shape 2"/>
          <p:cNvSpPr/>
          <p:nvPr/>
        </p:nvSpPr>
        <p:spPr>
          <a:xfrm>
            <a:off x="-548640" y="3474720"/>
            <a:ext cx="2011680" cy="2011680"/>
          </a:xfrm>
          <a:prstGeom prst="ellipse">
            <a:avLst/>
          </a:prstGeom>
          <a:solidFill>
            <a:srgbClr val="58A6FF">
              <a:alpha val="12000"/>
            </a:srgbClr>
          </a:solidFill>
          <a:ln w="19050">
            <a:solidFill>
              <a:srgbClr val="58A6FF">
                <a:alpha val="40000"/>
              </a:srgbClr>
            </a:solidFill>
            <a:prstDash val="solid"/>
          </a:ln>
        </p:spPr>
      </p:sp>
      <p:sp>
        <p:nvSpPr>
          <p:cNvPr id="5" name="Shape 3"/>
          <p:cNvSpPr/>
          <p:nvPr/>
        </p:nvSpPr>
        <p:spPr>
          <a:xfrm>
            <a:off x="4114800" y="-457200"/>
            <a:ext cx="1645920" cy="1645920"/>
          </a:xfrm>
          <a:prstGeom prst="ellipse">
            <a:avLst/>
          </a:prstGeom>
          <a:solidFill>
            <a:srgbClr val="39D0D8">
              <a:alpha val="12000"/>
            </a:srgbClr>
          </a:solidFill>
          <a:ln w="19050">
            <a:solidFill>
              <a:srgbClr val="39D0D8">
                <a:alpha val="40000"/>
              </a:srgbClr>
            </a:solidFill>
            <a:prstDash val="solid"/>
          </a:ln>
        </p:spPr>
      </p:sp>
      <p:sp>
        <p:nvSpPr>
          <p:cNvPr id="6" name="Shape 4"/>
          <p:cNvSpPr/>
          <p:nvPr/>
        </p:nvSpPr>
        <p:spPr>
          <a:xfrm>
            <a:off x="5669280" y="640080"/>
            <a:ext cx="1508760" cy="109728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5669280" y="640080"/>
            <a:ext cx="1508760" cy="64008"/>
          </a:xfrm>
          <a:prstGeom prst="rect">
            <a:avLst/>
          </a:prstGeom>
          <a:solidFill>
            <a:srgbClr val="58A6FF"/>
          </a:solidFill>
          <a:ln/>
        </p:spPr>
      </p:sp>
      <p:sp>
        <p:nvSpPr>
          <p:cNvPr id="8" name="Text 6"/>
          <p:cNvSpPr/>
          <p:nvPr/>
        </p:nvSpPr>
        <p:spPr>
          <a:xfrm>
            <a:off x="5669280" y="749808"/>
            <a:ext cx="1508760" cy="502920"/>
          </a:xfrm>
          <a:prstGeom prst="rect">
            <a:avLst/>
          </a:prstGeom>
          <a:noFill/>
          <a:ln/>
        </p:spPr>
        <p:txBody>
          <a:bodyPr wrap="square" rtlCol="0" anchor="ctr">
            <a:sp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742</a:t>
            </a:r>
            <a:endParaRPr lang="en-US" sz="1600" dirty="0"/>
          </a:p>
        </p:txBody>
      </p:sp>
      <p:sp>
        <p:nvSpPr>
          <p:cNvPr id="9" name="Text 7"/>
          <p:cNvSpPr/>
          <p:nvPr/>
        </p:nvSpPr>
        <p:spPr>
          <a:xfrm>
            <a:off x="5669280" y="1234440"/>
            <a:ext cx="1508760" cy="32004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Total Jobs</a:t>
            </a:r>
            <a:endParaRPr lang="en-US" sz="900" dirty="0"/>
          </a:p>
        </p:txBody>
      </p:sp>
      <p:sp>
        <p:nvSpPr>
          <p:cNvPr id="10" name="Shape 8"/>
          <p:cNvSpPr/>
          <p:nvPr/>
        </p:nvSpPr>
        <p:spPr>
          <a:xfrm>
            <a:off x="7360920" y="640080"/>
            <a:ext cx="1508760" cy="109728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1" name="Shape 9"/>
          <p:cNvSpPr/>
          <p:nvPr/>
        </p:nvSpPr>
        <p:spPr>
          <a:xfrm>
            <a:off x="7360920" y="640080"/>
            <a:ext cx="1508760" cy="64008"/>
          </a:xfrm>
          <a:prstGeom prst="rect">
            <a:avLst/>
          </a:prstGeom>
          <a:solidFill>
            <a:srgbClr val="39D0D8"/>
          </a:solidFill>
          <a:ln/>
        </p:spPr>
      </p:sp>
      <p:sp>
        <p:nvSpPr>
          <p:cNvPr id="12" name="Text 10"/>
          <p:cNvSpPr/>
          <p:nvPr/>
        </p:nvSpPr>
        <p:spPr>
          <a:xfrm>
            <a:off x="7360920" y="749808"/>
            <a:ext cx="1508760" cy="502920"/>
          </a:xfrm>
          <a:prstGeom prst="rect">
            <a:avLst/>
          </a:prstGeom>
          <a:noFill/>
          <a:ln/>
        </p:spPr>
        <p:txBody>
          <a:bodyPr wrap="square" rtlCol="0" anchor="ctr">
            <a:sp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42</a:t>
            </a:r>
            <a:endParaRPr lang="en-US" sz="1600" dirty="0"/>
          </a:p>
        </p:txBody>
      </p:sp>
      <p:sp>
        <p:nvSpPr>
          <p:cNvPr id="13" name="Text 11"/>
          <p:cNvSpPr/>
          <p:nvPr/>
        </p:nvSpPr>
        <p:spPr>
          <a:xfrm>
            <a:off x="7360920" y="1234440"/>
            <a:ext cx="1508760" cy="32004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Columns</a:t>
            </a:r>
            <a:endParaRPr lang="en-US" sz="900" dirty="0"/>
          </a:p>
        </p:txBody>
      </p:sp>
      <p:sp>
        <p:nvSpPr>
          <p:cNvPr id="14" name="Shape 12"/>
          <p:cNvSpPr/>
          <p:nvPr/>
        </p:nvSpPr>
        <p:spPr>
          <a:xfrm>
            <a:off x="5669280" y="1965960"/>
            <a:ext cx="1508760" cy="109728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5" name="Shape 13"/>
          <p:cNvSpPr/>
          <p:nvPr/>
        </p:nvSpPr>
        <p:spPr>
          <a:xfrm>
            <a:off x="5669280" y="1965960"/>
            <a:ext cx="1508760" cy="64008"/>
          </a:xfrm>
          <a:prstGeom prst="rect">
            <a:avLst/>
          </a:prstGeom>
          <a:solidFill>
            <a:srgbClr val="3FB950"/>
          </a:solidFill>
          <a:ln/>
        </p:spPr>
      </p:sp>
      <p:sp>
        <p:nvSpPr>
          <p:cNvPr id="16" name="Text 14"/>
          <p:cNvSpPr/>
          <p:nvPr/>
        </p:nvSpPr>
        <p:spPr>
          <a:xfrm>
            <a:off x="5669280" y="2075688"/>
            <a:ext cx="1508760" cy="502920"/>
          </a:xfrm>
          <a:prstGeom prst="rect">
            <a:avLst/>
          </a:prstGeom>
          <a:noFill/>
          <a:ln/>
        </p:spPr>
        <p:txBody>
          <a:bodyPr wrap="square" rtlCol="0" anchor="ctr">
            <a:sp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37</a:t>
            </a:r>
            <a:endParaRPr lang="en-US" sz="1600" dirty="0"/>
          </a:p>
        </p:txBody>
      </p:sp>
      <p:sp>
        <p:nvSpPr>
          <p:cNvPr id="17" name="Text 15"/>
          <p:cNvSpPr/>
          <p:nvPr/>
        </p:nvSpPr>
        <p:spPr>
          <a:xfrm>
            <a:off x="5669280" y="2560320"/>
            <a:ext cx="1508760" cy="32004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States</a:t>
            </a:r>
            <a:endParaRPr lang="en-US" sz="900" dirty="0"/>
          </a:p>
        </p:txBody>
      </p:sp>
      <p:sp>
        <p:nvSpPr>
          <p:cNvPr id="18" name="Shape 16"/>
          <p:cNvSpPr/>
          <p:nvPr/>
        </p:nvSpPr>
        <p:spPr>
          <a:xfrm>
            <a:off x="7360920" y="1965960"/>
            <a:ext cx="1508760" cy="109728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9" name="Shape 17"/>
          <p:cNvSpPr/>
          <p:nvPr/>
        </p:nvSpPr>
        <p:spPr>
          <a:xfrm>
            <a:off x="7360920" y="1965960"/>
            <a:ext cx="1508760" cy="64008"/>
          </a:xfrm>
          <a:prstGeom prst="rect">
            <a:avLst/>
          </a:prstGeom>
          <a:solidFill>
            <a:srgbClr val="F78166"/>
          </a:solidFill>
          <a:ln/>
        </p:spPr>
      </p:sp>
      <p:sp>
        <p:nvSpPr>
          <p:cNvPr id="20" name="Text 18"/>
          <p:cNvSpPr/>
          <p:nvPr/>
        </p:nvSpPr>
        <p:spPr>
          <a:xfrm>
            <a:off x="7360920" y="2075688"/>
            <a:ext cx="1508760" cy="502920"/>
          </a:xfrm>
          <a:prstGeom prst="rect">
            <a:avLst/>
          </a:prstGeom>
          <a:noFill/>
          <a:ln/>
        </p:spPr>
        <p:txBody>
          <a:bodyPr wrap="square" rtlCol="0" anchor="ctr">
            <a:spAutoFit/>
          </a:bodyP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$101.56K</a:t>
            </a:r>
            <a:endParaRPr lang="en-US" sz="1600" dirty="0"/>
          </a:p>
        </p:txBody>
      </p:sp>
      <p:sp>
        <p:nvSpPr>
          <p:cNvPr id="21" name="Text 19"/>
          <p:cNvSpPr/>
          <p:nvPr/>
        </p:nvSpPr>
        <p:spPr>
          <a:xfrm>
            <a:off x="7360920" y="2560320"/>
            <a:ext cx="1508760" cy="32004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Avg Salary</a:t>
            </a:r>
            <a:endParaRPr lang="en-US" sz="900" dirty="0"/>
          </a:p>
        </p:txBody>
      </p:sp>
      <p:sp>
        <p:nvSpPr>
          <p:cNvPr id="22" name="Shape 20"/>
          <p:cNvSpPr/>
          <p:nvPr/>
        </p:nvSpPr>
        <p:spPr>
          <a:xfrm>
            <a:off x="5577840" y="3017520"/>
            <a:ext cx="3474720" cy="2121408"/>
          </a:xfrm>
          <a:prstGeom prst="rect">
            <a:avLst/>
          </a:prstGeom>
          <a:solidFill>
            <a:srgbClr val="21262D"/>
          </a:solidFill>
          <a:ln/>
        </p:spPr>
      </p:sp>
      <p:sp>
        <p:nvSpPr>
          <p:cNvPr id="23" name="Text 21"/>
          <p:cNvSpPr/>
          <p:nvPr/>
        </p:nvSpPr>
        <p:spPr>
          <a:xfrm>
            <a:off x="5577840" y="3200400"/>
            <a:ext cx="3474720" cy="36576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SQL  ·  Power BI  ·  DAX  ·  Power Query</a:t>
            </a:r>
            <a:endParaRPr lang="en-US" sz="900" dirty="0"/>
          </a:p>
        </p:txBody>
      </p:sp>
      <p:sp>
        <p:nvSpPr>
          <p:cNvPr id="24" name="Text 22"/>
          <p:cNvSpPr/>
          <p:nvPr/>
        </p:nvSpPr>
        <p:spPr>
          <a:xfrm>
            <a:off x="5577840" y="3657600"/>
            <a:ext cx="3474720" cy="365760"/>
          </a:xfrm>
          <a:prstGeom prst="rect">
            <a:avLst/>
          </a:prstGeom>
          <a:noFill/>
          <a:ln/>
        </p:spPr>
        <p:txBody>
          <a:bodyPr wrap="square" rtlCol="0" anchor="ctr"/>
          <a:lstStyle/>
          <a:p>
            <a:pPr algn="ctr" indent="0" marL="0">
              <a:buNone/>
            </a:pPr>
            <a:r>
              <a:rPr lang="en-US" sz="1000" b="1" dirty="0">
                <a:solidFill>
                  <a:srgbClr val="58A6FF"/>
                </a:solidFill>
                <a:latin typeface="Segoe UI Semibold" pitchFamily="34" charset="0"/>
                <a:ea typeface="Segoe UI Semibold" pitchFamily="34" charset="-122"/>
                <a:cs typeface="Segoe UI Semibold" pitchFamily="34" charset="-120"/>
              </a:rPr>
              <a:t>Data Analyst Internship</a:t>
            </a:r>
            <a:endParaRPr lang="en-US" sz="1000" dirty="0"/>
          </a:p>
        </p:txBody>
      </p:sp>
      <p:sp>
        <p:nvSpPr>
          <p:cNvPr id="25" name="Text 23"/>
          <p:cNvSpPr/>
          <p:nvPr/>
        </p:nvSpPr>
        <p:spPr>
          <a:xfrm>
            <a:off x="5577840" y="4114800"/>
            <a:ext cx="3474720" cy="365760"/>
          </a:xfrm>
          <a:prstGeom prst="rect">
            <a:avLst/>
          </a:prstGeom>
          <a:noFill/>
          <a:ln/>
        </p:spPr>
        <p:txBody>
          <a:bodyPr wrap="square" rtlCol="0" anchor="ctr"/>
          <a:lstStyle/>
          <a:p>
            <a:pPr algn="ctr" indent="0" marL="0">
              <a:buNone/>
            </a:pPr>
            <a:r>
              <a:rPr lang="en-US" sz="900" dirty="0">
                <a:solidFill>
                  <a:srgbClr val="8B949E"/>
                </a:solidFill>
                <a:latin typeface="Segoe UI" pitchFamily="34" charset="0"/>
                <a:ea typeface="Segoe UI" pitchFamily="34" charset="-122"/>
                <a:cs typeface="Segoe UI" pitchFamily="34" charset="-120"/>
              </a:rPr>
              <a:t>Project · 2026</a:t>
            </a:r>
            <a:endParaRPr lang="en-US" sz="900" dirty="0"/>
          </a:p>
        </p:txBody>
      </p:sp>
      <p:sp>
        <p:nvSpPr>
          <p:cNvPr id="26" name="Shape 24"/>
          <p:cNvSpPr/>
          <p:nvPr/>
        </p:nvSpPr>
        <p:spPr>
          <a:xfrm>
            <a:off x="502920" y="1051560"/>
            <a:ext cx="109728" cy="109728"/>
          </a:xfrm>
          <a:prstGeom prst="ellipse">
            <a:avLst/>
          </a:prstGeom>
          <a:solidFill>
            <a:srgbClr val="58A6FF"/>
          </a:solidFill>
          <a:ln/>
        </p:spPr>
      </p:sp>
      <p:sp>
        <p:nvSpPr>
          <p:cNvPr id="27" name="Text 25"/>
          <p:cNvSpPr/>
          <p:nvPr/>
        </p:nvSpPr>
        <p:spPr>
          <a:xfrm>
            <a:off x="457200" y="1234440"/>
            <a:ext cx="4663440" cy="685800"/>
          </a:xfrm>
          <a:prstGeom prst="rect">
            <a:avLst/>
          </a:prstGeom>
          <a:noFill/>
          <a:ln/>
        </p:spPr>
        <p:txBody>
          <a:bodyPr wrap="square" rtlCol="0" anchor="ctr"/>
          <a:lstStyle/>
          <a:p>
            <a:pPr indent="0" marL="0">
              <a:buNone/>
            </a:pPr>
            <a:r>
              <a:rPr lang="en-US" sz="3800" b="1" dirty="0">
                <a:solidFill>
                  <a:srgbClr val="FFFFFF"/>
                </a:solidFill>
                <a:latin typeface="Segoe UI Semibold" pitchFamily="34" charset="0"/>
                <a:ea typeface="Segoe UI Semibold" pitchFamily="34" charset="-122"/>
                <a:cs typeface="Segoe UI Semibold" pitchFamily="34" charset="-120"/>
              </a:rPr>
              <a:t>Job Market</a:t>
            </a:r>
            <a:endParaRPr lang="en-US" sz="3800" dirty="0"/>
          </a:p>
        </p:txBody>
      </p:sp>
      <p:sp>
        <p:nvSpPr>
          <p:cNvPr id="28" name="Text 26"/>
          <p:cNvSpPr/>
          <p:nvPr/>
        </p:nvSpPr>
        <p:spPr>
          <a:xfrm>
            <a:off x="457200" y="1874520"/>
            <a:ext cx="4663440" cy="685800"/>
          </a:xfrm>
          <a:prstGeom prst="rect">
            <a:avLst/>
          </a:prstGeom>
          <a:noFill/>
          <a:ln/>
        </p:spPr>
        <p:txBody>
          <a:bodyPr wrap="square" rtlCol="0" anchor="ctr"/>
          <a:lstStyle/>
          <a:p>
            <a:pPr indent="0" marL="0">
              <a:buNone/>
            </a:pPr>
            <a:r>
              <a:rPr lang="en-US" sz="3800" b="1" dirty="0">
                <a:solidFill>
                  <a:srgbClr val="58A6FF"/>
                </a:solidFill>
                <a:latin typeface="Segoe UI Semibold" pitchFamily="34" charset="0"/>
                <a:ea typeface="Segoe UI Semibold" pitchFamily="34" charset="-122"/>
                <a:cs typeface="Segoe UI Semibold" pitchFamily="34" charset="-120"/>
              </a:rPr>
              <a:t>Analysis</a:t>
            </a:r>
            <a:endParaRPr lang="en-US" sz="3800" dirty="0"/>
          </a:p>
        </p:txBody>
      </p:sp>
      <p:sp>
        <p:nvSpPr>
          <p:cNvPr id="29" name="Text 27"/>
          <p:cNvSpPr/>
          <p:nvPr/>
        </p:nvSpPr>
        <p:spPr>
          <a:xfrm>
            <a:off x="457200" y="2542032"/>
            <a:ext cx="4663440" cy="411480"/>
          </a:xfrm>
          <a:prstGeom prst="rect">
            <a:avLst/>
          </a:prstGeom>
          <a:noFill/>
          <a:ln/>
        </p:spPr>
        <p:txBody>
          <a:bodyPr wrap="square" rtlCol="0" anchor="ctr"/>
          <a:lstStyle/>
          <a:p>
            <a:pPr indent="0" marL="0">
              <a:buNone/>
            </a:pPr>
            <a:r>
              <a:rPr lang="en-US" sz="1600" dirty="0">
                <a:solidFill>
                  <a:srgbClr val="C9D1D9"/>
                </a:solidFill>
                <a:latin typeface="Segoe UI" pitchFamily="34" charset="0"/>
                <a:ea typeface="Segoe UI" pitchFamily="34" charset="-122"/>
                <a:cs typeface="Segoe UI" pitchFamily="34" charset="-120"/>
              </a:rPr>
              <a:t>using SQL &amp; Power BI</a:t>
            </a:r>
            <a:endParaRPr lang="en-US" sz="1600" dirty="0"/>
          </a:p>
        </p:txBody>
      </p:sp>
      <p:sp>
        <p:nvSpPr>
          <p:cNvPr id="30" name="Text 28"/>
          <p:cNvSpPr/>
          <p:nvPr/>
        </p:nvSpPr>
        <p:spPr>
          <a:xfrm>
            <a:off x="457200" y="3108960"/>
            <a:ext cx="4572000" cy="822960"/>
          </a:xfrm>
          <a:prstGeom prst="rect">
            <a:avLst/>
          </a:prstGeom>
          <a:noFill/>
          <a:ln/>
        </p:spPr>
        <p:txBody>
          <a:bodyPr wrap="square" rtlCol="0" anchor="ctr"/>
          <a:lstStyle/>
          <a:p>
            <a:pPr indent="0" marL="0">
              <a:lnSpc>
                <a:spcPct val="140000"/>
              </a:lnSpc>
              <a:buNone/>
            </a:pPr>
            <a:r>
              <a:rPr lang="en-US" sz="1100" dirty="0">
                <a:solidFill>
                  <a:srgbClr val="8B949E"/>
                </a:solidFill>
                <a:latin typeface="Segoe UI" pitchFamily="34" charset="0"/>
                <a:ea typeface="Segoe UI" pitchFamily="34" charset="-122"/>
                <a:cs typeface="Segoe UI" pitchFamily="34" charset="-120"/>
              </a:rPr>
              <a:t>Analyzing 742 data science job postings to uncover</a:t>
            </a:r>
            <a:endParaRPr lang="en-US" sz="1100" dirty="0"/>
          </a:p>
          <a:p>
            <a:pPr indent="0" marL="0">
              <a:lnSpc>
                <a:spcPct val="140000"/>
              </a:lnSpc>
              <a:buNone/>
            </a:pPr>
            <a:r>
              <a:rPr lang="en-US" sz="1100" dirty="0">
                <a:solidFill>
                  <a:srgbClr val="8B949E"/>
                </a:solidFill>
                <a:latin typeface="Segoe UI" pitchFamily="34" charset="0"/>
                <a:ea typeface="Segoe UI" pitchFamily="34" charset="-122"/>
                <a:cs typeface="Segoe UI" pitchFamily="34" charset="-120"/>
              </a:rPr>
              <a:t>salary trends, skill demand, and hiring patterns.</a:t>
            </a:r>
            <a:endParaRPr lang="en-US" sz="1100" dirty="0"/>
          </a:p>
        </p:txBody>
      </p:sp>
      <p:sp>
        <p:nvSpPr>
          <p:cNvPr id="31" name="Shape 29"/>
          <p:cNvSpPr/>
          <p:nvPr/>
        </p:nvSpPr>
        <p:spPr>
          <a:xfrm>
            <a:off x="0" y="4983480"/>
            <a:ext cx="9144000" cy="155448"/>
          </a:xfrm>
          <a:prstGeom prst="rect">
            <a:avLst/>
          </a:prstGeom>
          <a:solidFill>
            <a:srgbClr val="58A6FF">
              <a:alpha val="20000"/>
            </a:srgbClr>
          </a:solidFill>
          <a:ln/>
        </p:spPr>
      </p:sp>
      <p:sp>
        <p:nvSpPr>
          <p:cNvPr id="32" name="Text 30"/>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Confidential — Internship Submission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8A6FF"/>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02</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58A6FF"/>
                </a:solidFill>
                <a:latin typeface="Segoe UI Semibold" pitchFamily="34" charset="0"/>
                <a:ea typeface="Segoe UI Semibold" pitchFamily="34" charset="-122"/>
                <a:cs typeface="Segoe UI Semibold" pitchFamily="34" charset="-120"/>
              </a:rPr>
              <a:t>PROJECT OBJECTIVE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What This Project Aims to Solve</a:t>
            </a:r>
            <a:endParaRPr lang="en-US" sz="2600" dirty="0"/>
          </a:p>
        </p:txBody>
      </p:sp>
      <p:sp>
        <p:nvSpPr>
          <p:cNvPr id="6" name="Shape 4"/>
          <p:cNvSpPr/>
          <p:nvPr/>
        </p:nvSpPr>
        <p:spPr>
          <a:xfrm>
            <a:off x="457200" y="1234440"/>
            <a:ext cx="8229600" cy="91440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64008" cy="914400"/>
          </a:xfrm>
          <a:prstGeom prst="rect">
            <a:avLst/>
          </a:prstGeom>
          <a:solidFill>
            <a:srgbClr val="58A6FF"/>
          </a:solidFill>
          <a:ln/>
        </p:spPr>
      </p:sp>
      <p:sp>
        <p:nvSpPr>
          <p:cNvPr id="8" name="Text 6"/>
          <p:cNvSpPr/>
          <p:nvPr/>
        </p:nvSpPr>
        <p:spPr>
          <a:xfrm>
            <a:off x="685800" y="1298448"/>
            <a:ext cx="7863840" cy="777240"/>
          </a:xfrm>
          <a:prstGeom prst="rect">
            <a:avLst/>
          </a:prstGeom>
          <a:noFill/>
          <a:ln/>
        </p:spPr>
        <p:txBody>
          <a:bodyPr wrap="square" rtlCol="0" anchor="ctr"/>
          <a:lstStyle/>
          <a:p>
            <a:pPr indent="0" marL="0">
              <a:lnSpc>
                <a:spcPct val="150000"/>
              </a:lnSpc>
              <a:buNone/>
            </a:pPr>
            <a:r>
              <a:rPr lang="en-US" sz="1300" dirty="0">
                <a:solidFill>
                  <a:srgbClr val="C9D1D9"/>
                </a:solidFill>
                <a:latin typeface="Segoe UI" pitchFamily="34" charset="0"/>
                <a:ea typeface="Segoe UI" pitchFamily="34" charset="-122"/>
                <a:cs typeface="Segoe UI" pitchFamily="34" charset="-120"/>
              </a:rPr>
              <a:t>Understand the current landscape of data science job openings across the US — identifying where opportunities are, how salaries differ, and what skills employers actually look for.</a:t>
            </a:r>
            <a:endParaRPr lang="en-US" sz="1300" dirty="0"/>
          </a:p>
        </p:txBody>
      </p:sp>
      <p:sp>
        <p:nvSpPr>
          <p:cNvPr id="9" name="Shape 7"/>
          <p:cNvSpPr/>
          <p:nvPr/>
        </p:nvSpPr>
        <p:spPr>
          <a:xfrm>
            <a:off x="457200" y="2331720"/>
            <a:ext cx="3931920" cy="100584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10" name="Shape 8"/>
          <p:cNvSpPr/>
          <p:nvPr/>
        </p:nvSpPr>
        <p:spPr>
          <a:xfrm>
            <a:off x="621792" y="2532888"/>
            <a:ext cx="457200" cy="457200"/>
          </a:xfrm>
          <a:prstGeom prst="ellipse">
            <a:avLst/>
          </a:prstGeom>
          <a:solidFill>
            <a:srgbClr val="58A6FF">
              <a:alpha val="25000"/>
            </a:srgbClr>
          </a:solidFill>
          <a:ln/>
        </p:spPr>
      </p:sp>
      <p:sp>
        <p:nvSpPr>
          <p:cNvPr id="11" name="Text 9"/>
          <p:cNvSpPr/>
          <p:nvPr/>
        </p:nvSpPr>
        <p:spPr>
          <a:xfrm>
            <a:off x="621792" y="2532888"/>
            <a:ext cx="457200" cy="457200"/>
          </a:xfrm>
          <a:prstGeom prst="rect">
            <a:avLst/>
          </a:prstGeom>
          <a:noFill/>
          <a:ln/>
        </p:spPr>
        <p:txBody>
          <a:bodyPr wrap="square" rtlCol="0" anchor="ctr"/>
          <a:lstStyle/>
          <a:p>
            <a:pPr algn="ctr" indent="0" marL="0">
              <a:buNone/>
            </a:pPr>
            <a:r>
              <a:rPr lang="en-US" sz="1400" b="1" dirty="0">
                <a:solidFill>
                  <a:srgbClr val="58A6FF"/>
                </a:solidFill>
                <a:latin typeface="Segoe UI Semibold" pitchFamily="34" charset="0"/>
                <a:ea typeface="Segoe UI Semibold" pitchFamily="34" charset="-122"/>
                <a:cs typeface="Segoe UI Semibold" pitchFamily="34" charset="-120"/>
              </a:rPr>
              <a:t>G</a:t>
            </a:r>
            <a:endParaRPr lang="en-US" sz="1400" dirty="0"/>
          </a:p>
        </p:txBody>
      </p:sp>
      <p:sp>
        <p:nvSpPr>
          <p:cNvPr id="12" name="Text 10"/>
          <p:cNvSpPr/>
          <p:nvPr/>
        </p:nvSpPr>
        <p:spPr>
          <a:xfrm>
            <a:off x="1188720" y="2423160"/>
            <a:ext cx="3063240" cy="347472"/>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Geographic Trends</a:t>
            </a:r>
            <a:endParaRPr lang="en-US" sz="1300" dirty="0"/>
          </a:p>
        </p:txBody>
      </p:sp>
      <p:sp>
        <p:nvSpPr>
          <p:cNvPr id="13" name="Text 11"/>
          <p:cNvSpPr/>
          <p:nvPr/>
        </p:nvSpPr>
        <p:spPr>
          <a:xfrm>
            <a:off x="1188720" y="2788920"/>
            <a:ext cx="3063240" cy="41148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Map job distribution and salary ranges across US states</a:t>
            </a:r>
            <a:endParaRPr lang="en-US" sz="1000" dirty="0"/>
          </a:p>
        </p:txBody>
      </p:sp>
      <p:sp>
        <p:nvSpPr>
          <p:cNvPr id="14" name="Shape 12"/>
          <p:cNvSpPr/>
          <p:nvPr/>
        </p:nvSpPr>
        <p:spPr>
          <a:xfrm>
            <a:off x="4663440" y="2331720"/>
            <a:ext cx="3931920" cy="100584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15" name="Shape 13"/>
          <p:cNvSpPr/>
          <p:nvPr/>
        </p:nvSpPr>
        <p:spPr>
          <a:xfrm>
            <a:off x="4828032" y="2532888"/>
            <a:ext cx="457200" cy="457200"/>
          </a:xfrm>
          <a:prstGeom prst="ellipse">
            <a:avLst/>
          </a:prstGeom>
          <a:solidFill>
            <a:srgbClr val="39D0D8">
              <a:alpha val="25000"/>
            </a:srgbClr>
          </a:solidFill>
          <a:ln/>
        </p:spPr>
      </p:sp>
      <p:sp>
        <p:nvSpPr>
          <p:cNvPr id="16" name="Text 14"/>
          <p:cNvSpPr/>
          <p:nvPr/>
        </p:nvSpPr>
        <p:spPr>
          <a:xfrm>
            <a:off x="4828032" y="2532888"/>
            <a:ext cx="457200" cy="457200"/>
          </a:xfrm>
          <a:prstGeom prst="rect">
            <a:avLst/>
          </a:prstGeom>
          <a:noFill/>
          <a:ln/>
        </p:spPr>
        <p:txBody>
          <a:bodyPr wrap="square" rtlCol="0" anchor="ctr"/>
          <a:lstStyle/>
          <a:p>
            <a:pPr algn="ctr" indent="0" marL="0">
              <a:buNone/>
            </a:pPr>
            <a:r>
              <a:rPr lang="en-US" sz="1400" b="1" dirty="0">
                <a:solidFill>
                  <a:srgbClr val="39D0D8"/>
                </a:solidFill>
                <a:latin typeface="Segoe UI Semibold" pitchFamily="34" charset="0"/>
                <a:ea typeface="Segoe UI Semibold" pitchFamily="34" charset="-122"/>
                <a:cs typeface="Segoe UI Semibold" pitchFamily="34" charset="-120"/>
              </a:rPr>
              <a:t>R</a:t>
            </a:r>
            <a:endParaRPr lang="en-US" sz="1400" dirty="0"/>
          </a:p>
        </p:txBody>
      </p:sp>
      <p:sp>
        <p:nvSpPr>
          <p:cNvPr id="17" name="Text 15"/>
          <p:cNvSpPr/>
          <p:nvPr/>
        </p:nvSpPr>
        <p:spPr>
          <a:xfrm>
            <a:off x="5394960" y="2423160"/>
            <a:ext cx="3063240" cy="347472"/>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Role &amp; Skill Demand</a:t>
            </a:r>
            <a:endParaRPr lang="en-US" sz="1300" dirty="0"/>
          </a:p>
        </p:txBody>
      </p:sp>
      <p:sp>
        <p:nvSpPr>
          <p:cNvPr id="18" name="Text 16"/>
          <p:cNvSpPr/>
          <p:nvPr/>
        </p:nvSpPr>
        <p:spPr>
          <a:xfrm>
            <a:off x="5394960" y="2788920"/>
            <a:ext cx="3063240" cy="41148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Identify most in-demand job titles and technical skills</a:t>
            </a:r>
            <a:endParaRPr lang="en-US" sz="1000" dirty="0"/>
          </a:p>
        </p:txBody>
      </p:sp>
      <p:sp>
        <p:nvSpPr>
          <p:cNvPr id="19" name="Shape 17"/>
          <p:cNvSpPr/>
          <p:nvPr/>
        </p:nvSpPr>
        <p:spPr>
          <a:xfrm>
            <a:off x="457200" y="3566160"/>
            <a:ext cx="3931920" cy="100584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20" name="Shape 18"/>
          <p:cNvSpPr/>
          <p:nvPr/>
        </p:nvSpPr>
        <p:spPr>
          <a:xfrm>
            <a:off x="621792" y="3767328"/>
            <a:ext cx="457200" cy="457200"/>
          </a:xfrm>
          <a:prstGeom prst="ellipse">
            <a:avLst/>
          </a:prstGeom>
          <a:solidFill>
            <a:srgbClr val="A371F7">
              <a:alpha val="25000"/>
            </a:srgbClr>
          </a:solidFill>
          <a:ln/>
        </p:spPr>
      </p:sp>
      <p:sp>
        <p:nvSpPr>
          <p:cNvPr id="21" name="Text 19"/>
          <p:cNvSpPr/>
          <p:nvPr/>
        </p:nvSpPr>
        <p:spPr>
          <a:xfrm>
            <a:off x="621792" y="3767328"/>
            <a:ext cx="457200" cy="457200"/>
          </a:xfrm>
          <a:prstGeom prst="rect">
            <a:avLst/>
          </a:prstGeom>
          <a:noFill/>
          <a:ln/>
        </p:spPr>
        <p:txBody>
          <a:bodyPr wrap="square" rtlCol="0" anchor="ctr"/>
          <a:lstStyle/>
          <a:p>
            <a:pPr algn="ctr" indent="0" marL="0">
              <a:buNone/>
            </a:pPr>
            <a:r>
              <a:rPr lang="en-US" sz="1400" b="1" dirty="0">
                <a:solidFill>
                  <a:srgbClr val="A371F7"/>
                </a:solidFill>
                <a:latin typeface="Segoe UI Semibold" pitchFamily="34" charset="0"/>
                <a:ea typeface="Segoe UI Semibold" pitchFamily="34" charset="-122"/>
                <a:cs typeface="Segoe UI Semibold" pitchFamily="34" charset="-120"/>
              </a:rPr>
              <a:t>E</a:t>
            </a:r>
            <a:endParaRPr lang="en-US" sz="1400" dirty="0"/>
          </a:p>
        </p:txBody>
      </p:sp>
      <p:sp>
        <p:nvSpPr>
          <p:cNvPr id="22" name="Text 20"/>
          <p:cNvSpPr/>
          <p:nvPr/>
        </p:nvSpPr>
        <p:spPr>
          <a:xfrm>
            <a:off x="1188720" y="3657600"/>
            <a:ext cx="3063240" cy="347472"/>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Education vs Salary</a:t>
            </a:r>
            <a:endParaRPr lang="en-US" sz="1300" dirty="0"/>
          </a:p>
        </p:txBody>
      </p:sp>
      <p:sp>
        <p:nvSpPr>
          <p:cNvPr id="23" name="Text 21"/>
          <p:cNvSpPr/>
          <p:nvPr/>
        </p:nvSpPr>
        <p:spPr>
          <a:xfrm>
            <a:off x="1188720" y="4023360"/>
            <a:ext cx="3063240" cy="41148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Analyze how degree levels influence compensation</a:t>
            </a:r>
            <a:endParaRPr lang="en-US" sz="1000" dirty="0"/>
          </a:p>
        </p:txBody>
      </p:sp>
      <p:sp>
        <p:nvSpPr>
          <p:cNvPr id="24" name="Shape 22"/>
          <p:cNvSpPr/>
          <p:nvPr/>
        </p:nvSpPr>
        <p:spPr>
          <a:xfrm>
            <a:off x="4663440" y="3566160"/>
            <a:ext cx="3931920" cy="100584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25" name="Shape 23"/>
          <p:cNvSpPr/>
          <p:nvPr/>
        </p:nvSpPr>
        <p:spPr>
          <a:xfrm>
            <a:off x="4828032" y="3767328"/>
            <a:ext cx="457200" cy="457200"/>
          </a:xfrm>
          <a:prstGeom prst="ellipse">
            <a:avLst/>
          </a:prstGeom>
          <a:solidFill>
            <a:srgbClr val="3FB950">
              <a:alpha val="25000"/>
            </a:srgbClr>
          </a:solidFill>
          <a:ln/>
        </p:spPr>
      </p:sp>
      <p:sp>
        <p:nvSpPr>
          <p:cNvPr id="26" name="Text 24"/>
          <p:cNvSpPr/>
          <p:nvPr/>
        </p:nvSpPr>
        <p:spPr>
          <a:xfrm>
            <a:off x="4828032" y="3767328"/>
            <a:ext cx="457200" cy="457200"/>
          </a:xfrm>
          <a:prstGeom prst="rect">
            <a:avLst/>
          </a:prstGeom>
          <a:noFill/>
          <a:ln/>
        </p:spPr>
        <p:txBody>
          <a:bodyPr wrap="square" rtlCol="0" anchor="ctr"/>
          <a:lstStyle/>
          <a:p>
            <a:pPr algn="ctr" indent="0" marL="0">
              <a:buNone/>
            </a:pPr>
            <a:r>
              <a:rPr lang="en-US" sz="1400" b="1" dirty="0">
                <a:solidFill>
                  <a:srgbClr val="3FB950"/>
                </a:solidFill>
                <a:latin typeface="Segoe UI Semibold" pitchFamily="34" charset="0"/>
                <a:ea typeface="Segoe UI Semibold" pitchFamily="34" charset="-122"/>
                <a:cs typeface="Segoe UI Semibold" pitchFamily="34" charset="-120"/>
              </a:rPr>
              <a:t>I</a:t>
            </a:r>
            <a:endParaRPr lang="en-US" sz="1400" dirty="0"/>
          </a:p>
        </p:txBody>
      </p:sp>
      <p:sp>
        <p:nvSpPr>
          <p:cNvPr id="27" name="Text 25"/>
          <p:cNvSpPr/>
          <p:nvPr/>
        </p:nvSpPr>
        <p:spPr>
          <a:xfrm>
            <a:off x="5394960" y="3657600"/>
            <a:ext cx="3063240" cy="347472"/>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Industry Insights</a:t>
            </a:r>
            <a:endParaRPr lang="en-US" sz="1300" dirty="0"/>
          </a:p>
        </p:txBody>
      </p:sp>
      <p:sp>
        <p:nvSpPr>
          <p:cNvPr id="28" name="Text 26"/>
          <p:cNvSpPr/>
          <p:nvPr/>
        </p:nvSpPr>
        <p:spPr>
          <a:xfrm>
            <a:off x="5394960" y="4023360"/>
            <a:ext cx="3063240" cy="41148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Find which industries are actively hiring data talent</a:t>
            </a:r>
            <a:endParaRPr lang="en-US" sz="1000" dirty="0"/>
          </a:p>
        </p:txBody>
      </p:sp>
      <p:sp>
        <p:nvSpPr>
          <p:cNvPr id="29" name="Shape 27"/>
          <p:cNvSpPr/>
          <p:nvPr/>
        </p:nvSpPr>
        <p:spPr>
          <a:xfrm>
            <a:off x="0" y="4983480"/>
            <a:ext cx="9144000" cy="155448"/>
          </a:xfrm>
          <a:prstGeom prst="rect">
            <a:avLst/>
          </a:prstGeom>
          <a:solidFill>
            <a:srgbClr val="21262D"/>
          </a:solidFill>
          <a:ln/>
        </p:spPr>
      </p:sp>
      <p:sp>
        <p:nvSpPr>
          <p:cNvPr id="30" name="Text 28"/>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9D0D8"/>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03</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39D0D8"/>
                </a:solidFill>
                <a:latin typeface="Segoe UI Semibold" pitchFamily="34" charset="0"/>
                <a:ea typeface="Segoe UI Semibold" pitchFamily="34" charset="-122"/>
                <a:cs typeface="Segoe UI Semibold" pitchFamily="34" charset="-120"/>
              </a:rPr>
              <a:t>DATASET OVERVIEW</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About the Data</a:t>
            </a:r>
            <a:endParaRPr lang="en-US" sz="2600" dirty="0"/>
          </a:p>
        </p:txBody>
      </p:sp>
      <p:sp>
        <p:nvSpPr>
          <p:cNvPr id="6" name="Shape 4"/>
          <p:cNvSpPr/>
          <p:nvPr/>
        </p:nvSpPr>
        <p:spPr>
          <a:xfrm>
            <a:off x="457200" y="1234440"/>
            <a:ext cx="1874520" cy="118872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1874520" cy="64008"/>
          </a:xfrm>
          <a:prstGeom prst="rect">
            <a:avLst/>
          </a:prstGeom>
          <a:solidFill>
            <a:srgbClr val="58A6FF"/>
          </a:solidFill>
          <a:ln/>
        </p:spPr>
      </p:sp>
      <p:sp>
        <p:nvSpPr>
          <p:cNvPr id="8" name="Text 6"/>
          <p:cNvSpPr/>
          <p:nvPr/>
        </p:nvSpPr>
        <p:spPr>
          <a:xfrm>
            <a:off x="457200" y="1371600"/>
            <a:ext cx="1874520" cy="594360"/>
          </a:xfrm>
          <a:prstGeom prst="rect">
            <a:avLst/>
          </a:prstGeom>
          <a:noFill/>
          <a:ln/>
        </p:spPr>
        <p:txBody>
          <a:bodyPr wrap="square" rtlCol="0" anchor="ctr"/>
          <a:lstStyle/>
          <a:p>
            <a:pPr algn="ctr" indent="0" marL="0">
              <a:buNone/>
            </a:pPr>
            <a:r>
              <a:rPr lang="en-US" sz="3400" b="1" dirty="0">
                <a:solidFill>
                  <a:srgbClr val="58A6FF"/>
                </a:solidFill>
                <a:latin typeface="Segoe UI Semibold" pitchFamily="34" charset="0"/>
                <a:ea typeface="Segoe UI Semibold" pitchFamily="34" charset="-122"/>
                <a:cs typeface="Segoe UI Semibold" pitchFamily="34" charset="-120"/>
              </a:rPr>
              <a:t>742</a:t>
            </a:r>
            <a:endParaRPr lang="en-US" sz="3400" dirty="0"/>
          </a:p>
        </p:txBody>
      </p:sp>
      <p:sp>
        <p:nvSpPr>
          <p:cNvPr id="9" name="Text 7"/>
          <p:cNvSpPr/>
          <p:nvPr/>
        </p:nvSpPr>
        <p:spPr>
          <a:xfrm>
            <a:off x="457200" y="1965960"/>
            <a:ext cx="1874520" cy="320040"/>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Job Postings</a:t>
            </a:r>
            <a:endParaRPr lang="en-US" sz="1000" dirty="0"/>
          </a:p>
        </p:txBody>
      </p:sp>
      <p:sp>
        <p:nvSpPr>
          <p:cNvPr id="10" name="Shape 8"/>
          <p:cNvSpPr/>
          <p:nvPr/>
        </p:nvSpPr>
        <p:spPr>
          <a:xfrm>
            <a:off x="2542032" y="1234440"/>
            <a:ext cx="1874520" cy="118872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1" name="Shape 9"/>
          <p:cNvSpPr/>
          <p:nvPr/>
        </p:nvSpPr>
        <p:spPr>
          <a:xfrm>
            <a:off x="2542032" y="1234440"/>
            <a:ext cx="1874520" cy="64008"/>
          </a:xfrm>
          <a:prstGeom prst="rect">
            <a:avLst/>
          </a:prstGeom>
          <a:solidFill>
            <a:srgbClr val="39D0D8"/>
          </a:solidFill>
          <a:ln/>
        </p:spPr>
      </p:sp>
      <p:sp>
        <p:nvSpPr>
          <p:cNvPr id="12" name="Text 10"/>
          <p:cNvSpPr/>
          <p:nvPr/>
        </p:nvSpPr>
        <p:spPr>
          <a:xfrm>
            <a:off x="2542032" y="1371600"/>
            <a:ext cx="1874520" cy="594360"/>
          </a:xfrm>
          <a:prstGeom prst="rect">
            <a:avLst/>
          </a:prstGeom>
          <a:noFill/>
          <a:ln/>
        </p:spPr>
        <p:txBody>
          <a:bodyPr wrap="square" rtlCol="0" anchor="ctr"/>
          <a:lstStyle/>
          <a:p>
            <a:pPr algn="ctr" indent="0" marL="0">
              <a:buNone/>
            </a:pPr>
            <a:r>
              <a:rPr lang="en-US" sz="3400" b="1" dirty="0">
                <a:solidFill>
                  <a:srgbClr val="39D0D8"/>
                </a:solidFill>
                <a:latin typeface="Segoe UI Semibold" pitchFamily="34" charset="0"/>
                <a:ea typeface="Segoe UI Semibold" pitchFamily="34" charset="-122"/>
                <a:cs typeface="Segoe UI Semibold" pitchFamily="34" charset="-120"/>
              </a:rPr>
              <a:t>42</a:t>
            </a:r>
            <a:endParaRPr lang="en-US" sz="3400" dirty="0"/>
          </a:p>
        </p:txBody>
      </p:sp>
      <p:sp>
        <p:nvSpPr>
          <p:cNvPr id="13" name="Text 11"/>
          <p:cNvSpPr/>
          <p:nvPr/>
        </p:nvSpPr>
        <p:spPr>
          <a:xfrm>
            <a:off x="2542032" y="1965960"/>
            <a:ext cx="1874520" cy="320040"/>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Features / Columns</a:t>
            </a:r>
            <a:endParaRPr lang="en-US" sz="1000" dirty="0"/>
          </a:p>
        </p:txBody>
      </p:sp>
      <p:sp>
        <p:nvSpPr>
          <p:cNvPr id="14" name="Shape 12"/>
          <p:cNvSpPr/>
          <p:nvPr/>
        </p:nvSpPr>
        <p:spPr>
          <a:xfrm>
            <a:off x="4626864" y="1234440"/>
            <a:ext cx="1874520" cy="118872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5" name="Shape 13"/>
          <p:cNvSpPr/>
          <p:nvPr/>
        </p:nvSpPr>
        <p:spPr>
          <a:xfrm>
            <a:off x="4626864" y="1234440"/>
            <a:ext cx="1874520" cy="64008"/>
          </a:xfrm>
          <a:prstGeom prst="rect">
            <a:avLst/>
          </a:prstGeom>
          <a:solidFill>
            <a:srgbClr val="3FB950"/>
          </a:solidFill>
          <a:ln/>
        </p:spPr>
      </p:sp>
      <p:sp>
        <p:nvSpPr>
          <p:cNvPr id="16" name="Text 14"/>
          <p:cNvSpPr/>
          <p:nvPr/>
        </p:nvSpPr>
        <p:spPr>
          <a:xfrm>
            <a:off x="4626864" y="1371600"/>
            <a:ext cx="1874520" cy="594360"/>
          </a:xfrm>
          <a:prstGeom prst="rect">
            <a:avLst/>
          </a:prstGeom>
          <a:noFill/>
          <a:ln/>
        </p:spPr>
        <p:txBody>
          <a:bodyPr wrap="square" rtlCol="0" anchor="ctr"/>
          <a:lstStyle/>
          <a:p>
            <a:pPr algn="ctr" indent="0" marL="0">
              <a:buNone/>
            </a:pPr>
            <a:r>
              <a:rPr lang="en-US" sz="3400" b="1" dirty="0">
                <a:solidFill>
                  <a:srgbClr val="3FB950"/>
                </a:solidFill>
                <a:latin typeface="Segoe UI Semibold" pitchFamily="34" charset="0"/>
                <a:ea typeface="Segoe UI Semibold" pitchFamily="34" charset="-122"/>
                <a:cs typeface="Segoe UI Semibold" pitchFamily="34" charset="-120"/>
              </a:rPr>
              <a:t>37</a:t>
            </a:r>
            <a:endParaRPr lang="en-US" sz="3400" dirty="0"/>
          </a:p>
        </p:txBody>
      </p:sp>
      <p:sp>
        <p:nvSpPr>
          <p:cNvPr id="17" name="Text 15"/>
          <p:cNvSpPr/>
          <p:nvPr/>
        </p:nvSpPr>
        <p:spPr>
          <a:xfrm>
            <a:off x="4626864" y="1965960"/>
            <a:ext cx="1874520" cy="320040"/>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US States</a:t>
            </a:r>
            <a:endParaRPr lang="en-US" sz="1000" dirty="0"/>
          </a:p>
        </p:txBody>
      </p:sp>
      <p:sp>
        <p:nvSpPr>
          <p:cNvPr id="18" name="Shape 16"/>
          <p:cNvSpPr/>
          <p:nvPr/>
        </p:nvSpPr>
        <p:spPr>
          <a:xfrm>
            <a:off x="6711696" y="1234440"/>
            <a:ext cx="1874520" cy="118872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9" name="Shape 17"/>
          <p:cNvSpPr/>
          <p:nvPr/>
        </p:nvSpPr>
        <p:spPr>
          <a:xfrm>
            <a:off x="6711696" y="1234440"/>
            <a:ext cx="1874520" cy="64008"/>
          </a:xfrm>
          <a:prstGeom prst="rect">
            <a:avLst/>
          </a:prstGeom>
          <a:solidFill>
            <a:srgbClr val="F78166"/>
          </a:solidFill>
          <a:ln/>
        </p:spPr>
      </p:sp>
      <p:sp>
        <p:nvSpPr>
          <p:cNvPr id="20" name="Text 18"/>
          <p:cNvSpPr/>
          <p:nvPr/>
        </p:nvSpPr>
        <p:spPr>
          <a:xfrm>
            <a:off x="6711696" y="1371600"/>
            <a:ext cx="1874520" cy="594360"/>
          </a:xfrm>
          <a:prstGeom prst="rect">
            <a:avLst/>
          </a:prstGeom>
          <a:noFill/>
          <a:ln/>
        </p:spPr>
        <p:txBody>
          <a:bodyPr wrap="square" rtlCol="0" anchor="ctr"/>
          <a:lstStyle/>
          <a:p>
            <a:pPr algn="ctr" indent="0" marL="0">
              <a:buNone/>
            </a:pPr>
            <a:r>
              <a:rPr lang="en-US" sz="3400" b="1" dirty="0">
                <a:solidFill>
                  <a:srgbClr val="F78166"/>
                </a:solidFill>
                <a:latin typeface="Segoe UI Semibold" pitchFamily="34" charset="0"/>
                <a:ea typeface="Segoe UI Semibold" pitchFamily="34" charset="-122"/>
                <a:cs typeface="Segoe UI Semibold" pitchFamily="34" charset="-120"/>
              </a:rPr>
              <a:t>60</a:t>
            </a:r>
            <a:endParaRPr lang="en-US" sz="3400" dirty="0"/>
          </a:p>
        </p:txBody>
      </p:sp>
      <p:sp>
        <p:nvSpPr>
          <p:cNvPr id="21" name="Text 19"/>
          <p:cNvSpPr/>
          <p:nvPr/>
        </p:nvSpPr>
        <p:spPr>
          <a:xfrm>
            <a:off x="6711696" y="1965960"/>
            <a:ext cx="1874520" cy="320040"/>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Industries</a:t>
            </a:r>
            <a:endParaRPr lang="en-US" sz="1000" dirty="0"/>
          </a:p>
        </p:txBody>
      </p:sp>
      <p:sp>
        <p:nvSpPr>
          <p:cNvPr id="22" name="Text 20"/>
          <p:cNvSpPr/>
          <p:nvPr/>
        </p:nvSpPr>
        <p:spPr>
          <a:xfrm>
            <a:off x="457200" y="2651760"/>
            <a:ext cx="8229600" cy="365760"/>
          </a:xfrm>
          <a:prstGeom prst="rect">
            <a:avLst/>
          </a:prstGeom>
          <a:noFill/>
          <a:ln/>
        </p:spPr>
        <p:txBody>
          <a:bodyPr wrap="square" rtlCol="0" anchor="ctr"/>
          <a:lstStyle/>
          <a:p>
            <a:pPr indent="0" marL="0">
              <a:buNone/>
            </a:pPr>
            <a:r>
              <a:rPr lang="en-US" sz="1400" b="1" dirty="0">
                <a:solidFill>
                  <a:srgbClr val="C9D1D9"/>
                </a:solidFill>
                <a:latin typeface="Segoe UI Semibold" pitchFamily="34" charset="0"/>
                <a:ea typeface="Segoe UI Semibold" pitchFamily="34" charset="-122"/>
                <a:cs typeface="Segoe UI Semibold" pitchFamily="34" charset="-120"/>
              </a:rPr>
              <a:t>Key Features in the Dataset</a:t>
            </a:r>
            <a:endParaRPr lang="en-US" sz="1400" dirty="0"/>
          </a:p>
        </p:txBody>
      </p:sp>
      <p:sp>
        <p:nvSpPr>
          <p:cNvPr id="23" name="Shape 21"/>
          <p:cNvSpPr/>
          <p:nvPr/>
        </p:nvSpPr>
        <p:spPr>
          <a:xfrm>
            <a:off x="457200" y="3108960"/>
            <a:ext cx="2651760" cy="685800"/>
          </a:xfrm>
          <a:prstGeom prst="rect">
            <a:avLst/>
          </a:prstGeom>
          <a:solidFill>
            <a:srgbClr val="21262D"/>
          </a:solidFill>
          <a:ln/>
        </p:spPr>
      </p:sp>
      <p:sp>
        <p:nvSpPr>
          <p:cNvPr id="24" name="Shape 22"/>
          <p:cNvSpPr/>
          <p:nvPr/>
        </p:nvSpPr>
        <p:spPr>
          <a:xfrm>
            <a:off x="457200" y="3108960"/>
            <a:ext cx="54864" cy="685800"/>
          </a:xfrm>
          <a:prstGeom prst="rect">
            <a:avLst/>
          </a:prstGeom>
          <a:solidFill>
            <a:srgbClr val="39D0D8"/>
          </a:solidFill>
          <a:ln/>
        </p:spPr>
      </p:sp>
      <p:sp>
        <p:nvSpPr>
          <p:cNvPr id="25" name="Text 23"/>
          <p:cNvSpPr/>
          <p:nvPr/>
        </p:nvSpPr>
        <p:spPr>
          <a:xfrm>
            <a:off x="621792" y="316382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Job Info</a:t>
            </a:r>
            <a:endParaRPr lang="en-US" sz="1100" dirty="0"/>
          </a:p>
        </p:txBody>
      </p:sp>
      <p:sp>
        <p:nvSpPr>
          <p:cNvPr id="26" name="Text 24"/>
          <p:cNvSpPr/>
          <p:nvPr/>
        </p:nvSpPr>
        <p:spPr>
          <a:xfrm>
            <a:off x="621792" y="343814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Job Title, Job Description, Seniority Level</a:t>
            </a:r>
            <a:endParaRPr lang="en-US" sz="850" dirty="0"/>
          </a:p>
        </p:txBody>
      </p:sp>
      <p:sp>
        <p:nvSpPr>
          <p:cNvPr id="27" name="Shape 25"/>
          <p:cNvSpPr/>
          <p:nvPr/>
        </p:nvSpPr>
        <p:spPr>
          <a:xfrm>
            <a:off x="3291840" y="3108960"/>
            <a:ext cx="2651760" cy="685800"/>
          </a:xfrm>
          <a:prstGeom prst="rect">
            <a:avLst/>
          </a:prstGeom>
          <a:solidFill>
            <a:srgbClr val="21262D"/>
          </a:solidFill>
          <a:ln/>
        </p:spPr>
      </p:sp>
      <p:sp>
        <p:nvSpPr>
          <p:cNvPr id="28" name="Shape 26"/>
          <p:cNvSpPr/>
          <p:nvPr/>
        </p:nvSpPr>
        <p:spPr>
          <a:xfrm>
            <a:off x="3291840" y="3108960"/>
            <a:ext cx="54864" cy="685800"/>
          </a:xfrm>
          <a:prstGeom prst="rect">
            <a:avLst/>
          </a:prstGeom>
          <a:solidFill>
            <a:srgbClr val="39D0D8"/>
          </a:solidFill>
          <a:ln/>
        </p:spPr>
      </p:sp>
      <p:sp>
        <p:nvSpPr>
          <p:cNvPr id="29" name="Text 27"/>
          <p:cNvSpPr/>
          <p:nvPr/>
        </p:nvSpPr>
        <p:spPr>
          <a:xfrm>
            <a:off x="3456432" y="316382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Compensation</a:t>
            </a:r>
            <a:endParaRPr lang="en-US" sz="1100" dirty="0"/>
          </a:p>
        </p:txBody>
      </p:sp>
      <p:sp>
        <p:nvSpPr>
          <p:cNvPr id="30" name="Text 28"/>
          <p:cNvSpPr/>
          <p:nvPr/>
        </p:nvSpPr>
        <p:spPr>
          <a:xfrm>
            <a:off x="3456432" y="343814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Avg Salary (K), Min Salary, Max Salary</a:t>
            </a:r>
            <a:endParaRPr lang="en-US" sz="850" dirty="0"/>
          </a:p>
        </p:txBody>
      </p:sp>
      <p:sp>
        <p:nvSpPr>
          <p:cNvPr id="31" name="Shape 29"/>
          <p:cNvSpPr/>
          <p:nvPr/>
        </p:nvSpPr>
        <p:spPr>
          <a:xfrm>
            <a:off x="6126480" y="3108960"/>
            <a:ext cx="2651760" cy="685800"/>
          </a:xfrm>
          <a:prstGeom prst="rect">
            <a:avLst/>
          </a:prstGeom>
          <a:solidFill>
            <a:srgbClr val="21262D"/>
          </a:solidFill>
          <a:ln/>
        </p:spPr>
      </p:sp>
      <p:sp>
        <p:nvSpPr>
          <p:cNvPr id="32" name="Shape 30"/>
          <p:cNvSpPr/>
          <p:nvPr/>
        </p:nvSpPr>
        <p:spPr>
          <a:xfrm>
            <a:off x="6126480" y="3108960"/>
            <a:ext cx="54864" cy="685800"/>
          </a:xfrm>
          <a:prstGeom prst="rect">
            <a:avLst/>
          </a:prstGeom>
          <a:solidFill>
            <a:srgbClr val="39D0D8"/>
          </a:solidFill>
          <a:ln/>
        </p:spPr>
      </p:sp>
      <p:sp>
        <p:nvSpPr>
          <p:cNvPr id="33" name="Text 31"/>
          <p:cNvSpPr/>
          <p:nvPr/>
        </p:nvSpPr>
        <p:spPr>
          <a:xfrm>
            <a:off x="6291072" y="316382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Company</a:t>
            </a:r>
            <a:endParaRPr lang="en-US" sz="1100" dirty="0"/>
          </a:p>
        </p:txBody>
      </p:sp>
      <p:sp>
        <p:nvSpPr>
          <p:cNvPr id="34" name="Text 32"/>
          <p:cNvSpPr/>
          <p:nvPr/>
        </p:nvSpPr>
        <p:spPr>
          <a:xfrm>
            <a:off x="6291072" y="343814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Company Name, Size, Ownership Type, Rating</a:t>
            </a:r>
            <a:endParaRPr lang="en-US" sz="850" dirty="0"/>
          </a:p>
        </p:txBody>
      </p:sp>
      <p:sp>
        <p:nvSpPr>
          <p:cNvPr id="35" name="Shape 33"/>
          <p:cNvSpPr/>
          <p:nvPr/>
        </p:nvSpPr>
        <p:spPr>
          <a:xfrm>
            <a:off x="457200" y="3931920"/>
            <a:ext cx="2651760" cy="685800"/>
          </a:xfrm>
          <a:prstGeom prst="rect">
            <a:avLst/>
          </a:prstGeom>
          <a:solidFill>
            <a:srgbClr val="21262D"/>
          </a:solidFill>
          <a:ln/>
        </p:spPr>
      </p:sp>
      <p:sp>
        <p:nvSpPr>
          <p:cNvPr id="36" name="Shape 34"/>
          <p:cNvSpPr/>
          <p:nvPr/>
        </p:nvSpPr>
        <p:spPr>
          <a:xfrm>
            <a:off x="457200" y="3931920"/>
            <a:ext cx="54864" cy="685800"/>
          </a:xfrm>
          <a:prstGeom prst="rect">
            <a:avLst/>
          </a:prstGeom>
          <a:solidFill>
            <a:srgbClr val="39D0D8"/>
          </a:solidFill>
          <a:ln/>
        </p:spPr>
      </p:sp>
      <p:sp>
        <p:nvSpPr>
          <p:cNvPr id="37" name="Text 35"/>
          <p:cNvSpPr/>
          <p:nvPr/>
        </p:nvSpPr>
        <p:spPr>
          <a:xfrm>
            <a:off x="621792" y="398678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Location</a:t>
            </a:r>
            <a:endParaRPr lang="en-US" sz="1100" dirty="0"/>
          </a:p>
        </p:txBody>
      </p:sp>
      <p:sp>
        <p:nvSpPr>
          <p:cNvPr id="38" name="Text 36"/>
          <p:cNvSpPr/>
          <p:nvPr/>
        </p:nvSpPr>
        <p:spPr>
          <a:xfrm>
            <a:off x="621792" y="426110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State, City, Headquarters</a:t>
            </a:r>
            <a:endParaRPr lang="en-US" sz="850" dirty="0"/>
          </a:p>
        </p:txBody>
      </p:sp>
      <p:sp>
        <p:nvSpPr>
          <p:cNvPr id="39" name="Shape 37"/>
          <p:cNvSpPr/>
          <p:nvPr/>
        </p:nvSpPr>
        <p:spPr>
          <a:xfrm>
            <a:off x="3291840" y="3931920"/>
            <a:ext cx="2651760" cy="685800"/>
          </a:xfrm>
          <a:prstGeom prst="rect">
            <a:avLst/>
          </a:prstGeom>
          <a:solidFill>
            <a:srgbClr val="21262D"/>
          </a:solidFill>
          <a:ln/>
        </p:spPr>
      </p:sp>
      <p:sp>
        <p:nvSpPr>
          <p:cNvPr id="40" name="Shape 38"/>
          <p:cNvSpPr/>
          <p:nvPr/>
        </p:nvSpPr>
        <p:spPr>
          <a:xfrm>
            <a:off x="3291840" y="3931920"/>
            <a:ext cx="54864" cy="685800"/>
          </a:xfrm>
          <a:prstGeom prst="rect">
            <a:avLst/>
          </a:prstGeom>
          <a:solidFill>
            <a:srgbClr val="39D0D8"/>
          </a:solidFill>
          <a:ln/>
        </p:spPr>
      </p:sp>
      <p:sp>
        <p:nvSpPr>
          <p:cNvPr id="41" name="Text 39"/>
          <p:cNvSpPr/>
          <p:nvPr/>
        </p:nvSpPr>
        <p:spPr>
          <a:xfrm>
            <a:off x="3456432" y="398678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Skills</a:t>
            </a:r>
            <a:endParaRPr lang="en-US" sz="1100" dirty="0"/>
          </a:p>
        </p:txBody>
      </p:sp>
      <p:sp>
        <p:nvSpPr>
          <p:cNvPr id="42" name="Text 40"/>
          <p:cNvSpPr/>
          <p:nvPr/>
        </p:nvSpPr>
        <p:spPr>
          <a:xfrm>
            <a:off x="3456432" y="426110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Python, SQL, AWS, Spark, Tableau, Hadoop...</a:t>
            </a:r>
            <a:endParaRPr lang="en-US" sz="850" dirty="0"/>
          </a:p>
        </p:txBody>
      </p:sp>
      <p:sp>
        <p:nvSpPr>
          <p:cNvPr id="43" name="Shape 41"/>
          <p:cNvSpPr/>
          <p:nvPr/>
        </p:nvSpPr>
        <p:spPr>
          <a:xfrm>
            <a:off x="6126480" y="3931920"/>
            <a:ext cx="2651760" cy="685800"/>
          </a:xfrm>
          <a:prstGeom prst="rect">
            <a:avLst/>
          </a:prstGeom>
          <a:solidFill>
            <a:srgbClr val="21262D"/>
          </a:solidFill>
          <a:ln/>
        </p:spPr>
      </p:sp>
      <p:sp>
        <p:nvSpPr>
          <p:cNvPr id="44" name="Shape 42"/>
          <p:cNvSpPr/>
          <p:nvPr/>
        </p:nvSpPr>
        <p:spPr>
          <a:xfrm>
            <a:off x="6126480" y="3931920"/>
            <a:ext cx="54864" cy="685800"/>
          </a:xfrm>
          <a:prstGeom prst="rect">
            <a:avLst/>
          </a:prstGeom>
          <a:solidFill>
            <a:srgbClr val="39D0D8"/>
          </a:solidFill>
          <a:ln/>
        </p:spPr>
      </p:sp>
      <p:sp>
        <p:nvSpPr>
          <p:cNvPr id="45" name="Text 43"/>
          <p:cNvSpPr/>
          <p:nvPr/>
        </p:nvSpPr>
        <p:spPr>
          <a:xfrm>
            <a:off x="6291072" y="3986784"/>
            <a:ext cx="2377440" cy="256032"/>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Education</a:t>
            </a:r>
            <a:endParaRPr lang="en-US" sz="1100" dirty="0"/>
          </a:p>
        </p:txBody>
      </p:sp>
      <p:sp>
        <p:nvSpPr>
          <p:cNvPr id="46" name="Text 44"/>
          <p:cNvSpPr/>
          <p:nvPr/>
        </p:nvSpPr>
        <p:spPr>
          <a:xfrm>
            <a:off x="6291072" y="4261104"/>
            <a:ext cx="2377440" cy="274320"/>
          </a:xfrm>
          <a:prstGeom prst="rect">
            <a:avLst/>
          </a:prstGeom>
          <a:noFill/>
          <a:ln/>
        </p:spPr>
        <p:txBody>
          <a:bodyPr wrap="square" rtlCol="0" anchor="ctr"/>
          <a:lstStyle/>
          <a:p>
            <a:pPr indent="0" marL="0">
              <a:buNone/>
            </a:pPr>
            <a:r>
              <a:rPr lang="en-US" sz="850" dirty="0">
                <a:solidFill>
                  <a:srgbClr val="8B949E"/>
                </a:solidFill>
                <a:latin typeface="Segoe UI" pitchFamily="34" charset="0"/>
                <a:ea typeface="Segoe UI" pitchFamily="34" charset="-122"/>
                <a:cs typeface="Segoe UI" pitchFamily="34" charset="-120"/>
              </a:rPr>
              <a:t>Degree required (PhD, Masters, Not Specified)</a:t>
            </a:r>
            <a:endParaRPr lang="en-US" sz="850" dirty="0"/>
          </a:p>
        </p:txBody>
      </p:sp>
      <p:sp>
        <p:nvSpPr>
          <p:cNvPr id="47" name="Shape 45"/>
          <p:cNvSpPr/>
          <p:nvPr/>
        </p:nvSpPr>
        <p:spPr>
          <a:xfrm>
            <a:off x="0" y="4983480"/>
            <a:ext cx="9144000" cy="155448"/>
          </a:xfrm>
          <a:prstGeom prst="rect">
            <a:avLst/>
          </a:prstGeom>
          <a:solidFill>
            <a:srgbClr val="21262D"/>
          </a:solidFill>
          <a:ln/>
        </p:spPr>
      </p:sp>
      <p:sp>
        <p:nvSpPr>
          <p:cNvPr id="48" name="Text 46"/>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78166"/>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04</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F78166"/>
                </a:solidFill>
                <a:latin typeface="Segoe UI Semibold" pitchFamily="34" charset="0"/>
                <a:ea typeface="Segoe UI Semibold" pitchFamily="34" charset="-122"/>
                <a:cs typeface="Segoe UI Semibold" pitchFamily="34" charset="-120"/>
              </a:rPr>
              <a:t>TOOLS &amp; TECHNOLOGIES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What Powered This Project</a:t>
            </a:r>
            <a:endParaRPr lang="en-US" sz="2600" dirty="0"/>
          </a:p>
        </p:txBody>
      </p:sp>
      <p:sp>
        <p:nvSpPr>
          <p:cNvPr id="6" name="Shape 4"/>
          <p:cNvSpPr/>
          <p:nvPr/>
        </p:nvSpPr>
        <p:spPr>
          <a:xfrm>
            <a:off x="457200" y="1234440"/>
            <a:ext cx="3931920"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3931920" cy="64008"/>
          </a:xfrm>
          <a:prstGeom prst="rect">
            <a:avLst/>
          </a:prstGeom>
          <a:solidFill>
            <a:srgbClr val="58A6FF"/>
          </a:solidFill>
          <a:ln/>
        </p:spPr>
      </p:sp>
      <p:sp>
        <p:nvSpPr>
          <p:cNvPr id="8" name="Shape 6"/>
          <p:cNvSpPr/>
          <p:nvPr/>
        </p:nvSpPr>
        <p:spPr>
          <a:xfrm>
            <a:off x="594360" y="1371600"/>
            <a:ext cx="438912" cy="438912"/>
          </a:xfrm>
          <a:prstGeom prst="ellipse">
            <a:avLst/>
          </a:prstGeom>
          <a:solidFill>
            <a:srgbClr val="58A6FF">
              <a:alpha val="25000"/>
            </a:srgbClr>
          </a:solidFill>
          <a:ln/>
        </p:spPr>
      </p:sp>
      <p:sp>
        <p:nvSpPr>
          <p:cNvPr id="9" name="Text 7"/>
          <p:cNvSpPr/>
          <p:nvPr/>
        </p:nvSpPr>
        <p:spPr>
          <a:xfrm>
            <a:off x="594360" y="1371600"/>
            <a:ext cx="438912" cy="438912"/>
          </a:xfrm>
          <a:prstGeom prst="rect">
            <a:avLst/>
          </a:prstGeom>
          <a:noFill/>
          <a:ln/>
        </p:spPr>
        <p:txBody>
          <a:bodyPr wrap="square" rtlCol="0" anchor="ctr"/>
          <a:lstStyle/>
          <a:p>
            <a:pPr algn="ctr" indent="0" marL="0">
              <a:buNone/>
            </a:pPr>
            <a:r>
              <a:rPr lang="en-US" sz="700" b="1" dirty="0">
                <a:solidFill>
                  <a:srgbClr val="58A6FF"/>
                </a:solidFill>
                <a:latin typeface="Segoe UI Semibold" pitchFamily="34" charset="0"/>
                <a:ea typeface="Segoe UI Semibold" pitchFamily="34" charset="-122"/>
                <a:cs typeface="Segoe UI Semibold" pitchFamily="34" charset="-120"/>
              </a:rPr>
              <a:t>SQL</a:t>
            </a:r>
            <a:endParaRPr lang="en-US" sz="700" dirty="0"/>
          </a:p>
        </p:txBody>
      </p:sp>
      <p:sp>
        <p:nvSpPr>
          <p:cNvPr id="10" name="Text 8"/>
          <p:cNvSpPr/>
          <p:nvPr/>
        </p:nvSpPr>
        <p:spPr>
          <a:xfrm>
            <a:off x="1115568" y="1353312"/>
            <a:ext cx="3108960" cy="347472"/>
          </a:xfrm>
          <a:prstGeom prst="rect">
            <a:avLst/>
          </a:prstGeom>
          <a:noFill/>
          <a:ln/>
        </p:spPr>
        <p:txBody>
          <a:bodyPr wrap="square"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SQL</a:t>
            </a:r>
            <a:endParaRPr lang="en-US" sz="1600" dirty="0"/>
          </a:p>
        </p:txBody>
      </p:sp>
      <p:sp>
        <p:nvSpPr>
          <p:cNvPr id="11" name="Text 9"/>
          <p:cNvSpPr/>
          <p:nvPr/>
        </p:nvSpPr>
        <p:spPr>
          <a:xfrm>
            <a:off x="594360" y="1856232"/>
            <a:ext cx="3657600" cy="292608"/>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Used for data extraction and initial cleaning from the database.</a:t>
            </a:r>
            <a:endParaRPr lang="en-US" sz="1000" dirty="0"/>
          </a:p>
        </p:txBody>
      </p:sp>
      <p:sp>
        <p:nvSpPr>
          <p:cNvPr id="12" name="Shape 10"/>
          <p:cNvSpPr/>
          <p:nvPr/>
        </p:nvSpPr>
        <p:spPr>
          <a:xfrm>
            <a:off x="640080" y="2240280"/>
            <a:ext cx="64008" cy="64008"/>
          </a:xfrm>
          <a:prstGeom prst="ellipse">
            <a:avLst/>
          </a:prstGeom>
          <a:solidFill>
            <a:srgbClr val="58A6FF"/>
          </a:solidFill>
          <a:ln/>
        </p:spPr>
      </p:sp>
      <p:sp>
        <p:nvSpPr>
          <p:cNvPr id="13" name="Text 11"/>
          <p:cNvSpPr/>
          <p:nvPr/>
        </p:nvSpPr>
        <p:spPr>
          <a:xfrm>
            <a:off x="777240" y="2176272"/>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Connected to relational DB</a:t>
            </a:r>
            <a:endParaRPr lang="en-US" sz="900" dirty="0"/>
          </a:p>
        </p:txBody>
      </p:sp>
      <p:sp>
        <p:nvSpPr>
          <p:cNvPr id="14" name="Shape 12"/>
          <p:cNvSpPr/>
          <p:nvPr/>
        </p:nvSpPr>
        <p:spPr>
          <a:xfrm>
            <a:off x="640080" y="2459736"/>
            <a:ext cx="64008" cy="64008"/>
          </a:xfrm>
          <a:prstGeom prst="ellipse">
            <a:avLst/>
          </a:prstGeom>
          <a:solidFill>
            <a:srgbClr val="58A6FF"/>
          </a:solidFill>
          <a:ln/>
        </p:spPr>
      </p:sp>
      <p:sp>
        <p:nvSpPr>
          <p:cNvPr id="15" name="Text 13"/>
          <p:cNvSpPr/>
          <p:nvPr/>
        </p:nvSpPr>
        <p:spPr>
          <a:xfrm>
            <a:off x="777240" y="2395728"/>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Ran aggregation queries</a:t>
            </a:r>
            <a:endParaRPr lang="en-US" sz="900" dirty="0"/>
          </a:p>
        </p:txBody>
      </p:sp>
      <p:sp>
        <p:nvSpPr>
          <p:cNvPr id="16" name="Shape 14"/>
          <p:cNvSpPr/>
          <p:nvPr/>
        </p:nvSpPr>
        <p:spPr>
          <a:xfrm>
            <a:off x="640080" y="2679192"/>
            <a:ext cx="64008" cy="64008"/>
          </a:xfrm>
          <a:prstGeom prst="ellipse">
            <a:avLst/>
          </a:prstGeom>
          <a:solidFill>
            <a:srgbClr val="58A6FF"/>
          </a:solidFill>
          <a:ln/>
        </p:spPr>
      </p:sp>
      <p:sp>
        <p:nvSpPr>
          <p:cNvPr id="17" name="Text 15"/>
          <p:cNvSpPr/>
          <p:nvPr/>
        </p:nvSpPr>
        <p:spPr>
          <a:xfrm>
            <a:off x="777240" y="2615184"/>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Filtered &amp; grouped data</a:t>
            </a:r>
            <a:endParaRPr lang="en-US" sz="900" dirty="0"/>
          </a:p>
        </p:txBody>
      </p:sp>
      <p:sp>
        <p:nvSpPr>
          <p:cNvPr id="18" name="Shape 16"/>
          <p:cNvSpPr/>
          <p:nvPr/>
        </p:nvSpPr>
        <p:spPr>
          <a:xfrm>
            <a:off x="4663440" y="1234440"/>
            <a:ext cx="3931920"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9" name="Shape 17"/>
          <p:cNvSpPr/>
          <p:nvPr/>
        </p:nvSpPr>
        <p:spPr>
          <a:xfrm>
            <a:off x="4663440" y="1234440"/>
            <a:ext cx="3931920" cy="64008"/>
          </a:xfrm>
          <a:prstGeom prst="rect">
            <a:avLst/>
          </a:prstGeom>
          <a:solidFill>
            <a:srgbClr val="39D0D8"/>
          </a:solidFill>
          <a:ln/>
        </p:spPr>
      </p:sp>
      <p:sp>
        <p:nvSpPr>
          <p:cNvPr id="20" name="Shape 18"/>
          <p:cNvSpPr/>
          <p:nvPr/>
        </p:nvSpPr>
        <p:spPr>
          <a:xfrm>
            <a:off x="4800600" y="1371600"/>
            <a:ext cx="438912" cy="438912"/>
          </a:xfrm>
          <a:prstGeom prst="ellipse">
            <a:avLst/>
          </a:prstGeom>
          <a:solidFill>
            <a:srgbClr val="39D0D8">
              <a:alpha val="25000"/>
            </a:srgbClr>
          </a:solidFill>
          <a:ln/>
        </p:spPr>
      </p:sp>
      <p:sp>
        <p:nvSpPr>
          <p:cNvPr id="21" name="Text 19"/>
          <p:cNvSpPr/>
          <p:nvPr/>
        </p:nvSpPr>
        <p:spPr>
          <a:xfrm>
            <a:off x="4800600" y="1371600"/>
            <a:ext cx="438912" cy="438912"/>
          </a:xfrm>
          <a:prstGeom prst="rect">
            <a:avLst/>
          </a:prstGeom>
          <a:noFill/>
          <a:ln/>
        </p:spPr>
        <p:txBody>
          <a:bodyPr wrap="square" rtlCol="0" anchor="ctr"/>
          <a:lstStyle/>
          <a:p>
            <a:pPr algn="ctr" indent="0" marL="0">
              <a:buNone/>
            </a:pPr>
            <a:r>
              <a:rPr lang="en-US" sz="700" b="1" dirty="0">
                <a:solidFill>
                  <a:srgbClr val="39D0D8"/>
                </a:solidFill>
                <a:latin typeface="Segoe UI Semibold" pitchFamily="34" charset="0"/>
                <a:ea typeface="Segoe UI Semibold" pitchFamily="34" charset="-122"/>
                <a:cs typeface="Segoe UI Semibold" pitchFamily="34" charset="-120"/>
              </a:rPr>
              <a:t>PBI</a:t>
            </a:r>
            <a:endParaRPr lang="en-US" sz="700" dirty="0"/>
          </a:p>
        </p:txBody>
      </p:sp>
      <p:sp>
        <p:nvSpPr>
          <p:cNvPr id="22" name="Text 20"/>
          <p:cNvSpPr/>
          <p:nvPr/>
        </p:nvSpPr>
        <p:spPr>
          <a:xfrm>
            <a:off x="5321808" y="1353312"/>
            <a:ext cx="3108960" cy="347472"/>
          </a:xfrm>
          <a:prstGeom prst="rect">
            <a:avLst/>
          </a:prstGeom>
          <a:noFill/>
          <a:ln/>
        </p:spPr>
        <p:txBody>
          <a:bodyPr wrap="square"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Power BI</a:t>
            </a:r>
            <a:endParaRPr lang="en-US" sz="1600" dirty="0"/>
          </a:p>
        </p:txBody>
      </p:sp>
      <p:sp>
        <p:nvSpPr>
          <p:cNvPr id="23" name="Text 21"/>
          <p:cNvSpPr/>
          <p:nvPr/>
        </p:nvSpPr>
        <p:spPr>
          <a:xfrm>
            <a:off x="4800600" y="1856232"/>
            <a:ext cx="3657600" cy="292608"/>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Primary tool for building the interactive job market dashboard.</a:t>
            </a:r>
            <a:endParaRPr lang="en-US" sz="1000" dirty="0"/>
          </a:p>
        </p:txBody>
      </p:sp>
      <p:sp>
        <p:nvSpPr>
          <p:cNvPr id="24" name="Shape 22"/>
          <p:cNvSpPr/>
          <p:nvPr/>
        </p:nvSpPr>
        <p:spPr>
          <a:xfrm>
            <a:off x="4846320" y="2240280"/>
            <a:ext cx="64008" cy="64008"/>
          </a:xfrm>
          <a:prstGeom prst="ellipse">
            <a:avLst/>
          </a:prstGeom>
          <a:solidFill>
            <a:srgbClr val="39D0D8"/>
          </a:solidFill>
          <a:ln/>
        </p:spPr>
      </p:sp>
      <p:sp>
        <p:nvSpPr>
          <p:cNvPr id="25" name="Text 23"/>
          <p:cNvSpPr/>
          <p:nvPr/>
        </p:nvSpPr>
        <p:spPr>
          <a:xfrm>
            <a:off x="4983480" y="2176272"/>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Imported cleaned SQL data</a:t>
            </a:r>
            <a:endParaRPr lang="en-US" sz="900" dirty="0"/>
          </a:p>
        </p:txBody>
      </p:sp>
      <p:sp>
        <p:nvSpPr>
          <p:cNvPr id="26" name="Shape 24"/>
          <p:cNvSpPr/>
          <p:nvPr/>
        </p:nvSpPr>
        <p:spPr>
          <a:xfrm>
            <a:off x="4846320" y="2459736"/>
            <a:ext cx="64008" cy="64008"/>
          </a:xfrm>
          <a:prstGeom prst="ellipse">
            <a:avLst/>
          </a:prstGeom>
          <a:solidFill>
            <a:srgbClr val="39D0D8"/>
          </a:solidFill>
          <a:ln/>
        </p:spPr>
      </p:sp>
      <p:sp>
        <p:nvSpPr>
          <p:cNvPr id="27" name="Text 25"/>
          <p:cNvSpPr/>
          <p:nvPr/>
        </p:nvSpPr>
        <p:spPr>
          <a:xfrm>
            <a:off x="4983480" y="2395728"/>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Created KPI cards &amp; charts</a:t>
            </a:r>
            <a:endParaRPr lang="en-US" sz="900" dirty="0"/>
          </a:p>
        </p:txBody>
      </p:sp>
      <p:sp>
        <p:nvSpPr>
          <p:cNvPr id="28" name="Shape 26"/>
          <p:cNvSpPr/>
          <p:nvPr/>
        </p:nvSpPr>
        <p:spPr>
          <a:xfrm>
            <a:off x="4846320" y="2679192"/>
            <a:ext cx="64008" cy="64008"/>
          </a:xfrm>
          <a:prstGeom prst="ellipse">
            <a:avLst/>
          </a:prstGeom>
          <a:solidFill>
            <a:srgbClr val="39D0D8"/>
          </a:solidFill>
          <a:ln/>
        </p:spPr>
      </p:sp>
      <p:sp>
        <p:nvSpPr>
          <p:cNvPr id="29" name="Text 27"/>
          <p:cNvSpPr/>
          <p:nvPr/>
        </p:nvSpPr>
        <p:spPr>
          <a:xfrm>
            <a:off x="4983480" y="2615184"/>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Built filter slicers</a:t>
            </a:r>
            <a:endParaRPr lang="en-US" sz="900" dirty="0"/>
          </a:p>
        </p:txBody>
      </p:sp>
      <p:sp>
        <p:nvSpPr>
          <p:cNvPr id="30" name="Shape 28"/>
          <p:cNvSpPr/>
          <p:nvPr/>
        </p:nvSpPr>
        <p:spPr>
          <a:xfrm>
            <a:off x="457200" y="3063240"/>
            <a:ext cx="3931920"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1" name="Shape 29"/>
          <p:cNvSpPr/>
          <p:nvPr/>
        </p:nvSpPr>
        <p:spPr>
          <a:xfrm>
            <a:off x="457200" y="3063240"/>
            <a:ext cx="3931920" cy="64008"/>
          </a:xfrm>
          <a:prstGeom prst="rect">
            <a:avLst/>
          </a:prstGeom>
          <a:solidFill>
            <a:srgbClr val="3FB950"/>
          </a:solidFill>
          <a:ln/>
        </p:spPr>
      </p:sp>
      <p:sp>
        <p:nvSpPr>
          <p:cNvPr id="32" name="Shape 30"/>
          <p:cNvSpPr/>
          <p:nvPr/>
        </p:nvSpPr>
        <p:spPr>
          <a:xfrm>
            <a:off x="594360" y="3200400"/>
            <a:ext cx="438912" cy="438912"/>
          </a:xfrm>
          <a:prstGeom prst="ellipse">
            <a:avLst/>
          </a:prstGeom>
          <a:solidFill>
            <a:srgbClr val="3FB950">
              <a:alpha val="25000"/>
            </a:srgbClr>
          </a:solidFill>
          <a:ln/>
        </p:spPr>
      </p:sp>
      <p:sp>
        <p:nvSpPr>
          <p:cNvPr id="33" name="Text 31"/>
          <p:cNvSpPr/>
          <p:nvPr/>
        </p:nvSpPr>
        <p:spPr>
          <a:xfrm>
            <a:off x="594360" y="3200400"/>
            <a:ext cx="438912" cy="438912"/>
          </a:xfrm>
          <a:prstGeom prst="rect">
            <a:avLst/>
          </a:prstGeom>
          <a:noFill/>
          <a:ln/>
        </p:spPr>
        <p:txBody>
          <a:bodyPr wrap="square" rtlCol="0" anchor="ctr"/>
          <a:lstStyle/>
          <a:p>
            <a:pPr algn="ctr" indent="0" marL="0">
              <a:buNone/>
            </a:pPr>
            <a:r>
              <a:rPr lang="en-US" sz="900" b="1" dirty="0">
                <a:solidFill>
                  <a:srgbClr val="3FB950"/>
                </a:solidFill>
                <a:latin typeface="Segoe UI Semibold" pitchFamily="34" charset="0"/>
                <a:ea typeface="Segoe UI Semibold" pitchFamily="34" charset="-122"/>
                <a:cs typeface="Segoe UI Semibold" pitchFamily="34" charset="-120"/>
              </a:rPr>
              <a:t>PQ</a:t>
            </a:r>
            <a:endParaRPr lang="en-US" sz="900" dirty="0"/>
          </a:p>
        </p:txBody>
      </p:sp>
      <p:sp>
        <p:nvSpPr>
          <p:cNvPr id="34" name="Text 32"/>
          <p:cNvSpPr/>
          <p:nvPr/>
        </p:nvSpPr>
        <p:spPr>
          <a:xfrm>
            <a:off x="1115568" y="3182112"/>
            <a:ext cx="3108960" cy="347472"/>
          </a:xfrm>
          <a:prstGeom prst="rect">
            <a:avLst/>
          </a:prstGeom>
          <a:noFill/>
          <a:ln/>
        </p:spPr>
        <p:txBody>
          <a:bodyPr wrap="square"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Power Query</a:t>
            </a:r>
            <a:endParaRPr lang="en-US" sz="1600" dirty="0"/>
          </a:p>
        </p:txBody>
      </p:sp>
      <p:sp>
        <p:nvSpPr>
          <p:cNvPr id="35" name="Text 33"/>
          <p:cNvSpPr/>
          <p:nvPr/>
        </p:nvSpPr>
        <p:spPr>
          <a:xfrm>
            <a:off x="594360" y="3685032"/>
            <a:ext cx="3657600" cy="292608"/>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Used for additional data transformation inside Power BI.</a:t>
            </a:r>
            <a:endParaRPr lang="en-US" sz="1000" dirty="0"/>
          </a:p>
        </p:txBody>
      </p:sp>
      <p:sp>
        <p:nvSpPr>
          <p:cNvPr id="36" name="Shape 34"/>
          <p:cNvSpPr/>
          <p:nvPr/>
        </p:nvSpPr>
        <p:spPr>
          <a:xfrm>
            <a:off x="640080" y="4069080"/>
            <a:ext cx="64008" cy="64008"/>
          </a:xfrm>
          <a:prstGeom prst="ellipse">
            <a:avLst/>
          </a:prstGeom>
          <a:solidFill>
            <a:srgbClr val="3FB950"/>
          </a:solidFill>
          <a:ln/>
        </p:spPr>
      </p:sp>
      <p:sp>
        <p:nvSpPr>
          <p:cNvPr id="37" name="Text 35"/>
          <p:cNvSpPr/>
          <p:nvPr/>
        </p:nvSpPr>
        <p:spPr>
          <a:xfrm>
            <a:off x="777240" y="4005072"/>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Replaced -1 salary values</a:t>
            </a:r>
            <a:endParaRPr lang="en-US" sz="900" dirty="0"/>
          </a:p>
        </p:txBody>
      </p:sp>
      <p:sp>
        <p:nvSpPr>
          <p:cNvPr id="38" name="Shape 36"/>
          <p:cNvSpPr/>
          <p:nvPr/>
        </p:nvSpPr>
        <p:spPr>
          <a:xfrm>
            <a:off x="640080" y="4288536"/>
            <a:ext cx="64008" cy="64008"/>
          </a:xfrm>
          <a:prstGeom prst="ellipse">
            <a:avLst/>
          </a:prstGeom>
          <a:solidFill>
            <a:srgbClr val="3FB950"/>
          </a:solidFill>
          <a:ln/>
        </p:spPr>
      </p:sp>
      <p:sp>
        <p:nvSpPr>
          <p:cNvPr id="39" name="Text 37"/>
          <p:cNvSpPr/>
          <p:nvPr/>
        </p:nvSpPr>
        <p:spPr>
          <a:xfrm>
            <a:off x="777240" y="4224528"/>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Split columns &amp; renamed fields</a:t>
            </a:r>
            <a:endParaRPr lang="en-US" sz="900" dirty="0"/>
          </a:p>
        </p:txBody>
      </p:sp>
      <p:sp>
        <p:nvSpPr>
          <p:cNvPr id="40" name="Shape 38"/>
          <p:cNvSpPr/>
          <p:nvPr/>
        </p:nvSpPr>
        <p:spPr>
          <a:xfrm>
            <a:off x="640080" y="4507992"/>
            <a:ext cx="64008" cy="64008"/>
          </a:xfrm>
          <a:prstGeom prst="ellipse">
            <a:avLst/>
          </a:prstGeom>
          <a:solidFill>
            <a:srgbClr val="3FB950"/>
          </a:solidFill>
          <a:ln/>
        </p:spPr>
      </p:sp>
      <p:sp>
        <p:nvSpPr>
          <p:cNvPr id="41" name="Text 39"/>
          <p:cNvSpPr/>
          <p:nvPr/>
        </p:nvSpPr>
        <p:spPr>
          <a:xfrm>
            <a:off x="777240" y="4443984"/>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Removed nulls &amp; duplicates</a:t>
            </a:r>
            <a:endParaRPr lang="en-US" sz="900" dirty="0"/>
          </a:p>
        </p:txBody>
      </p:sp>
      <p:sp>
        <p:nvSpPr>
          <p:cNvPr id="42" name="Shape 40"/>
          <p:cNvSpPr/>
          <p:nvPr/>
        </p:nvSpPr>
        <p:spPr>
          <a:xfrm>
            <a:off x="4663440" y="3063240"/>
            <a:ext cx="3931920"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43" name="Shape 41"/>
          <p:cNvSpPr/>
          <p:nvPr/>
        </p:nvSpPr>
        <p:spPr>
          <a:xfrm>
            <a:off x="4663440" y="3063240"/>
            <a:ext cx="3931920" cy="64008"/>
          </a:xfrm>
          <a:prstGeom prst="rect">
            <a:avLst/>
          </a:prstGeom>
          <a:solidFill>
            <a:srgbClr val="F78166"/>
          </a:solidFill>
          <a:ln/>
        </p:spPr>
      </p:sp>
      <p:sp>
        <p:nvSpPr>
          <p:cNvPr id="44" name="Shape 42"/>
          <p:cNvSpPr/>
          <p:nvPr/>
        </p:nvSpPr>
        <p:spPr>
          <a:xfrm>
            <a:off x="4800600" y="3200400"/>
            <a:ext cx="438912" cy="438912"/>
          </a:xfrm>
          <a:prstGeom prst="ellipse">
            <a:avLst/>
          </a:prstGeom>
          <a:solidFill>
            <a:srgbClr val="F78166">
              <a:alpha val="25000"/>
            </a:srgbClr>
          </a:solidFill>
          <a:ln/>
        </p:spPr>
      </p:sp>
      <p:sp>
        <p:nvSpPr>
          <p:cNvPr id="45" name="Text 43"/>
          <p:cNvSpPr/>
          <p:nvPr/>
        </p:nvSpPr>
        <p:spPr>
          <a:xfrm>
            <a:off x="4800600" y="3200400"/>
            <a:ext cx="438912" cy="438912"/>
          </a:xfrm>
          <a:prstGeom prst="rect">
            <a:avLst/>
          </a:prstGeom>
          <a:noFill/>
          <a:ln/>
        </p:spPr>
        <p:txBody>
          <a:bodyPr wrap="square" rtlCol="0" anchor="ctr"/>
          <a:lstStyle/>
          <a:p>
            <a:pPr algn="ctr" indent="0" marL="0">
              <a:buNone/>
            </a:pPr>
            <a:r>
              <a:rPr lang="en-US" sz="700" b="1" dirty="0">
                <a:solidFill>
                  <a:srgbClr val="F78166"/>
                </a:solidFill>
                <a:latin typeface="Segoe UI Semibold" pitchFamily="34" charset="0"/>
                <a:ea typeface="Segoe UI Semibold" pitchFamily="34" charset="-122"/>
                <a:cs typeface="Segoe UI Semibold" pitchFamily="34" charset="-120"/>
              </a:rPr>
              <a:t>DAX</a:t>
            </a:r>
            <a:endParaRPr lang="en-US" sz="700" dirty="0"/>
          </a:p>
        </p:txBody>
      </p:sp>
      <p:sp>
        <p:nvSpPr>
          <p:cNvPr id="46" name="Text 44"/>
          <p:cNvSpPr/>
          <p:nvPr/>
        </p:nvSpPr>
        <p:spPr>
          <a:xfrm>
            <a:off x="5321808" y="3182112"/>
            <a:ext cx="3108960" cy="347472"/>
          </a:xfrm>
          <a:prstGeom prst="rect">
            <a:avLst/>
          </a:prstGeom>
          <a:noFill/>
          <a:ln/>
        </p:spPr>
        <p:txBody>
          <a:bodyPr wrap="square"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DAX</a:t>
            </a:r>
            <a:endParaRPr lang="en-US" sz="1600" dirty="0"/>
          </a:p>
        </p:txBody>
      </p:sp>
      <p:sp>
        <p:nvSpPr>
          <p:cNvPr id="47" name="Text 45"/>
          <p:cNvSpPr/>
          <p:nvPr/>
        </p:nvSpPr>
        <p:spPr>
          <a:xfrm>
            <a:off x="4800600" y="3685032"/>
            <a:ext cx="3657600" cy="292608"/>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Used to define calculated measures for KPIs and analysis.</a:t>
            </a:r>
            <a:endParaRPr lang="en-US" sz="1000" dirty="0"/>
          </a:p>
        </p:txBody>
      </p:sp>
      <p:sp>
        <p:nvSpPr>
          <p:cNvPr id="48" name="Shape 46"/>
          <p:cNvSpPr/>
          <p:nvPr/>
        </p:nvSpPr>
        <p:spPr>
          <a:xfrm>
            <a:off x="4846320" y="4069080"/>
            <a:ext cx="64008" cy="64008"/>
          </a:xfrm>
          <a:prstGeom prst="ellipse">
            <a:avLst/>
          </a:prstGeom>
          <a:solidFill>
            <a:srgbClr val="F78166"/>
          </a:solidFill>
          <a:ln/>
        </p:spPr>
      </p:sp>
      <p:sp>
        <p:nvSpPr>
          <p:cNvPr id="49" name="Text 47"/>
          <p:cNvSpPr/>
          <p:nvPr/>
        </p:nvSpPr>
        <p:spPr>
          <a:xfrm>
            <a:off x="4983480" y="4005072"/>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Total Jobs, Avg Salary</a:t>
            </a:r>
            <a:endParaRPr lang="en-US" sz="900" dirty="0"/>
          </a:p>
        </p:txBody>
      </p:sp>
      <p:sp>
        <p:nvSpPr>
          <p:cNvPr id="50" name="Shape 48"/>
          <p:cNvSpPr/>
          <p:nvPr/>
        </p:nvSpPr>
        <p:spPr>
          <a:xfrm>
            <a:off x="4846320" y="4288536"/>
            <a:ext cx="64008" cy="64008"/>
          </a:xfrm>
          <a:prstGeom prst="ellipse">
            <a:avLst/>
          </a:prstGeom>
          <a:solidFill>
            <a:srgbClr val="F78166"/>
          </a:solidFill>
          <a:ln/>
        </p:spPr>
      </p:sp>
      <p:sp>
        <p:nvSpPr>
          <p:cNvPr id="51" name="Text 49"/>
          <p:cNvSpPr/>
          <p:nvPr/>
        </p:nvSpPr>
        <p:spPr>
          <a:xfrm>
            <a:off x="4983480" y="4224528"/>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DISTINCTCOUNT measures</a:t>
            </a:r>
            <a:endParaRPr lang="en-US" sz="900" dirty="0"/>
          </a:p>
        </p:txBody>
      </p:sp>
      <p:sp>
        <p:nvSpPr>
          <p:cNvPr id="52" name="Shape 50"/>
          <p:cNvSpPr/>
          <p:nvPr/>
        </p:nvSpPr>
        <p:spPr>
          <a:xfrm>
            <a:off x="4846320" y="4507992"/>
            <a:ext cx="64008" cy="64008"/>
          </a:xfrm>
          <a:prstGeom prst="ellipse">
            <a:avLst/>
          </a:prstGeom>
          <a:solidFill>
            <a:srgbClr val="F78166"/>
          </a:solidFill>
          <a:ln/>
        </p:spPr>
      </p:sp>
      <p:sp>
        <p:nvSpPr>
          <p:cNvPr id="53" name="Text 51"/>
          <p:cNvSpPr/>
          <p:nvPr/>
        </p:nvSpPr>
        <p:spPr>
          <a:xfrm>
            <a:off x="4983480" y="4443984"/>
            <a:ext cx="3474720" cy="228600"/>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Min/Max salary metrics</a:t>
            </a:r>
            <a:endParaRPr lang="en-US" sz="900" dirty="0"/>
          </a:p>
        </p:txBody>
      </p:sp>
      <p:sp>
        <p:nvSpPr>
          <p:cNvPr id="54" name="Shape 52"/>
          <p:cNvSpPr/>
          <p:nvPr/>
        </p:nvSpPr>
        <p:spPr>
          <a:xfrm>
            <a:off x="0" y="4983480"/>
            <a:ext cx="9144000" cy="155448"/>
          </a:xfrm>
          <a:prstGeom prst="rect">
            <a:avLst/>
          </a:prstGeom>
          <a:solidFill>
            <a:srgbClr val="21262D"/>
          </a:solidFill>
          <a:ln/>
        </p:spPr>
      </p:sp>
      <p:sp>
        <p:nvSpPr>
          <p:cNvPr id="55" name="Text 53"/>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FB950"/>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05</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3FB950"/>
                </a:solidFill>
                <a:latin typeface="Segoe UI Semibold" pitchFamily="34" charset="0"/>
                <a:ea typeface="Segoe UI Semibold" pitchFamily="34" charset="-122"/>
                <a:cs typeface="Segoe UI Semibold" pitchFamily="34" charset="-120"/>
              </a:rPr>
              <a:t>DATA PIPELINE</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Collection &amp; Cleaning Workflow</a:t>
            </a:r>
            <a:endParaRPr lang="en-US" sz="2600" dirty="0"/>
          </a:p>
        </p:txBody>
      </p:sp>
      <p:sp>
        <p:nvSpPr>
          <p:cNvPr id="6" name="Shape 4"/>
          <p:cNvSpPr/>
          <p:nvPr/>
        </p:nvSpPr>
        <p:spPr>
          <a:xfrm>
            <a:off x="457200" y="1234440"/>
            <a:ext cx="8229600" cy="74980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64008" cy="749808"/>
          </a:xfrm>
          <a:prstGeom prst="rect">
            <a:avLst/>
          </a:prstGeom>
          <a:solidFill>
            <a:srgbClr val="58A6FF"/>
          </a:solidFill>
          <a:ln/>
        </p:spPr>
      </p:sp>
      <p:sp>
        <p:nvSpPr>
          <p:cNvPr id="8" name="Shape 6"/>
          <p:cNvSpPr/>
          <p:nvPr/>
        </p:nvSpPr>
        <p:spPr>
          <a:xfrm>
            <a:off x="457200" y="1234440"/>
            <a:ext cx="658368" cy="749808"/>
          </a:xfrm>
          <a:prstGeom prst="rect">
            <a:avLst/>
          </a:prstGeom>
          <a:solidFill>
            <a:srgbClr val="21262D"/>
          </a:solidFill>
          <a:ln/>
        </p:spPr>
      </p:sp>
      <p:sp>
        <p:nvSpPr>
          <p:cNvPr id="9" name="Text 7"/>
          <p:cNvSpPr/>
          <p:nvPr/>
        </p:nvSpPr>
        <p:spPr>
          <a:xfrm>
            <a:off x="457200" y="1234440"/>
            <a:ext cx="658368" cy="749808"/>
          </a:xfrm>
          <a:prstGeom prst="rect">
            <a:avLst/>
          </a:prstGeom>
          <a:noFill/>
          <a:ln/>
        </p:spPr>
        <p:txBody>
          <a:bodyPr wrap="square" rtlCol="0" anchor="ctr"/>
          <a:lstStyle/>
          <a:p>
            <a:pPr algn="ctr" indent="0" marL="0">
              <a:buNone/>
            </a:pPr>
            <a:r>
              <a:rPr lang="en-US" sz="1800" b="1" dirty="0">
                <a:solidFill>
                  <a:srgbClr val="58A6FF"/>
                </a:solidFill>
                <a:latin typeface="Segoe UI Semibold" pitchFamily="34" charset="0"/>
                <a:ea typeface="Segoe UI Semibold" pitchFamily="34" charset="-122"/>
                <a:cs typeface="Segoe UI Semibold" pitchFamily="34" charset="-120"/>
              </a:rPr>
              <a:t>01</a:t>
            </a:r>
            <a:endParaRPr lang="en-US" sz="1800" dirty="0"/>
          </a:p>
        </p:txBody>
      </p:sp>
      <p:sp>
        <p:nvSpPr>
          <p:cNvPr id="10" name="Text 8"/>
          <p:cNvSpPr/>
          <p:nvPr/>
        </p:nvSpPr>
        <p:spPr>
          <a:xfrm>
            <a:off x="1234440" y="1325880"/>
            <a:ext cx="2743200" cy="274320"/>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DB Connection</a:t>
            </a:r>
            <a:endParaRPr lang="en-US" sz="1300" dirty="0"/>
          </a:p>
        </p:txBody>
      </p:sp>
      <p:sp>
        <p:nvSpPr>
          <p:cNvPr id="11" name="Text 9"/>
          <p:cNvSpPr/>
          <p:nvPr/>
        </p:nvSpPr>
        <p:spPr>
          <a:xfrm>
            <a:off x="1234440" y="1618488"/>
            <a:ext cx="7223760" cy="27432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Connected to SQL database using provided credentials and extracted the raw dataset.</a:t>
            </a:r>
            <a:endParaRPr lang="en-US" sz="1000" dirty="0"/>
          </a:p>
        </p:txBody>
      </p:sp>
      <p:sp>
        <p:nvSpPr>
          <p:cNvPr id="12" name="Shape 10"/>
          <p:cNvSpPr/>
          <p:nvPr/>
        </p:nvSpPr>
        <p:spPr>
          <a:xfrm>
            <a:off x="457200" y="2121408"/>
            <a:ext cx="8229600" cy="74980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3" name="Shape 11"/>
          <p:cNvSpPr/>
          <p:nvPr/>
        </p:nvSpPr>
        <p:spPr>
          <a:xfrm>
            <a:off x="457200" y="2121408"/>
            <a:ext cx="64008" cy="749808"/>
          </a:xfrm>
          <a:prstGeom prst="rect">
            <a:avLst/>
          </a:prstGeom>
          <a:solidFill>
            <a:srgbClr val="39D0D8"/>
          </a:solidFill>
          <a:ln/>
        </p:spPr>
      </p:sp>
      <p:sp>
        <p:nvSpPr>
          <p:cNvPr id="14" name="Shape 12"/>
          <p:cNvSpPr/>
          <p:nvPr/>
        </p:nvSpPr>
        <p:spPr>
          <a:xfrm>
            <a:off x="457200" y="2121408"/>
            <a:ext cx="658368" cy="749808"/>
          </a:xfrm>
          <a:prstGeom prst="rect">
            <a:avLst/>
          </a:prstGeom>
          <a:solidFill>
            <a:srgbClr val="21262D"/>
          </a:solidFill>
          <a:ln/>
        </p:spPr>
      </p:sp>
      <p:sp>
        <p:nvSpPr>
          <p:cNvPr id="15" name="Text 13"/>
          <p:cNvSpPr/>
          <p:nvPr/>
        </p:nvSpPr>
        <p:spPr>
          <a:xfrm>
            <a:off x="457200" y="2121408"/>
            <a:ext cx="658368" cy="749808"/>
          </a:xfrm>
          <a:prstGeom prst="rect">
            <a:avLst/>
          </a:prstGeom>
          <a:noFill/>
          <a:ln/>
        </p:spPr>
        <p:txBody>
          <a:bodyPr wrap="square" rtlCol="0" anchor="ctr"/>
          <a:lstStyle/>
          <a:p>
            <a:pPr algn="ctr" indent="0" marL="0">
              <a:buNone/>
            </a:pPr>
            <a:r>
              <a:rPr lang="en-US" sz="1800" b="1" dirty="0">
                <a:solidFill>
                  <a:srgbClr val="39D0D8"/>
                </a:solidFill>
                <a:latin typeface="Segoe UI Semibold" pitchFamily="34" charset="0"/>
                <a:ea typeface="Segoe UI Semibold" pitchFamily="34" charset="-122"/>
                <a:cs typeface="Segoe UI Semibold" pitchFamily="34" charset="-120"/>
              </a:rPr>
              <a:t>02</a:t>
            </a:r>
            <a:endParaRPr lang="en-US" sz="1800" dirty="0"/>
          </a:p>
        </p:txBody>
      </p:sp>
      <p:sp>
        <p:nvSpPr>
          <p:cNvPr id="16" name="Text 14"/>
          <p:cNvSpPr/>
          <p:nvPr/>
        </p:nvSpPr>
        <p:spPr>
          <a:xfrm>
            <a:off x="1234440" y="2212848"/>
            <a:ext cx="2743200" cy="274320"/>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SQL Cleaning</a:t>
            </a:r>
            <a:endParaRPr lang="en-US" sz="1300" dirty="0"/>
          </a:p>
        </p:txBody>
      </p:sp>
      <p:sp>
        <p:nvSpPr>
          <p:cNvPr id="17" name="Text 15"/>
          <p:cNvSpPr/>
          <p:nvPr/>
        </p:nvSpPr>
        <p:spPr>
          <a:xfrm>
            <a:off x="1234440" y="2505456"/>
            <a:ext cx="7223760" cy="27432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Handled nulls, removed duplicates, standardized formats, and filtered irrelevant rows.</a:t>
            </a:r>
            <a:endParaRPr lang="en-US" sz="1000" dirty="0"/>
          </a:p>
        </p:txBody>
      </p:sp>
      <p:sp>
        <p:nvSpPr>
          <p:cNvPr id="18" name="Shape 16"/>
          <p:cNvSpPr/>
          <p:nvPr/>
        </p:nvSpPr>
        <p:spPr>
          <a:xfrm>
            <a:off x="457200" y="3008376"/>
            <a:ext cx="8229600" cy="74980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9" name="Shape 17"/>
          <p:cNvSpPr/>
          <p:nvPr/>
        </p:nvSpPr>
        <p:spPr>
          <a:xfrm>
            <a:off x="457200" y="3008376"/>
            <a:ext cx="64008" cy="749808"/>
          </a:xfrm>
          <a:prstGeom prst="rect">
            <a:avLst/>
          </a:prstGeom>
          <a:solidFill>
            <a:srgbClr val="3FB950"/>
          </a:solidFill>
          <a:ln/>
        </p:spPr>
      </p:sp>
      <p:sp>
        <p:nvSpPr>
          <p:cNvPr id="20" name="Shape 18"/>
          <p:cNvSpPr/>
          <p:nvPr/>
        </p:nvSpPr>
        <p:spPr>
          <a:xfrm>
            <a:off x="457200" y="3008376"/>
            <a:ext cx="658368" cy="749808"/>
          </a:xfrm>
          <a:prstGeom prst="rect">
            <a:avLst/>
          </a:prstGeom>
          <a:solidFill>
            <a:srgbClr val="21262D"/>
          </a:solidFill>
          <a:ln/>
        </p:spPr>
      </p:sp>
      <p:sp>
        <p:nvSpPr>
          <p:cNvPr id="21" name="Text 19"/>
          <p:cNvSpPr/>
          <p:nvPr/>
        </p:nvSpPr>
        <p:spPr>
          <a:xfrm>
            <a:off x="457200" y="3008376"/>
            <a:ext cx="658368" cy="749808"/>
          </a:xfrm>
          <a:prstGeom prst="rect">
            <a:avLst/>
          </a:prstGeom>
          <a:noFill/>
          <a:ln/>
        </p:spPr>
        <p:txBody>
          <a:bodyPr wrap="square" rtlCol="0" anchor="ctr"/>
          <a:lstStyle/>
          <a:p>
            <a:pPr algn="ctr" indent="0" marL="0">
              <a:buNone/>
            </a:pPr>
            <a:r>
              <a:rPr lang="en-US" sz="1800" b="1" dirty="0">
                <a:solidFill>
                  <a:srgbClr val="3FB950"/>
                </a:solidFill>
                <a:latin typeface="Segoe UI Semibold" pitchFamily="34" charset="0"/>
                <a:ea typeface="Segoe UI Semibold" pitchFamily="34" charset="-122"/>
                <a:cs typeface="Segoe UI Semibold" pitchFamily="34" charset="-120"/>
              </a:rPr>
              <a:t>03</a:t>
            </a:r>
            <a:endParaRPr lang="en-US" sz="1800" dirty="0"/>
          </a:p>
        </p:txBody>
      </p:sp>
      <p:sp>
        <p:nvSpPr>
          <p:cNvPr id="22" name="Text 20"/>
          <p:cNvSpPr/>
          <p:nvPr/>
        </p:nvSpPr>
        <p:spPr>
          <a:xfrm>
            <a:off x="1234440" y="3099816"/>
            <a:ext cx="2743200" cy="274320"/>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Power Query Transform</a:t>
            </a:r>
            <a:endParaRPr lang="en-US" sz="1300" dirty="0"/>
          </a:p>
        </p:txBody>
      </p:sp>
      <p:sp>
        <p:nvSpPr>
          <p:cNvPr id="23" name="Text 21"/>
          <p:cNvSpPr/>
          <p:nvPr/>
        </p:nvSpPr>
        <p:spPr>
          <a:xfrm>
            <a:off x="1234440" y="3392424"/>
            <a:ext cx="7223760" cy="27432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Replaced -1 salary placeholders, renamed columns, split compound fields for clarity.</a:t>
            </a:r>
            <a:endParaRPr lang="en-US" sz="1000" dirty="0"/>
          </a:p>
        </p:txBody>
      </p:sp>
      <p:sp>
        <p:nvSpPr>
          <p:cNvPr id="24" name="Shape 22"/>
          <p:cNvSpPr/>
          <p:nvPr/>
        </p:nvSpPr>
        <p:spPr>
          <a:xfrm>
            <a:off x="457200" y="3895344"/>
            <a:ext cx="8229600" cy="74980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5" name="Shape 23"/>
          <p:cNvSpPr/>
          <p:nvPr/>
        </p:nvSpPr>
        <p:spPr>
          <a:xfrm>
            <a:off x="457200" y="3895344"/>
            <a:ext cx="64008" cy="749808"/>
          </a:xfrm>
          <a:prstGeom prst="rect">
            <a:avLst/>
          </a:prstGeom>
          <a:solidFill>
            <a:srgbClr val="F78166"/>
          </a:solidFill>
          <a:ln/>
        </p:spPr>
      </p:sp>
      <p:sp>
        <p:nvSpPr>
          <p:cNvPr id="26" name="Shape 24"/>
          <p:cNvSpPr/>
          <p:nvPr/>
        </p:nvSpPr>
        <p:spPr>
          <a:xfrm>
            <a:off x="457200" y="3895344"/>
            <a:ext cx="658368" cy="749808"/>
          </a:xfrm>
          <a:prstGeom prst="rect">
            <a:avLst/>
          </a:prstGeom>
          <a:solidFill>
            <a:srgbClr val="21262D"/>
          </a:solidFill>
          <a:ln/>
        </p:spPr>
      </p:sp>
      <p:sp>
        <p:nvSpPr>
          <p:cNvPr id="27" name="Text 25"/>
          <p:cNvSpPr/>
          <p:nvPr/>
        </p:nvSpPr>
        <p:spPr>
          <a:xfrm>
            <a:off x="457200" y="3895344"/>
            <a:ext cx="658368" cy="749808"/>
          </a:xfrm>
          <a:prstGeom prst="rect">
            <a:avLst/>
          </a:prstGeom>
          <a:noFill/>
          <a:ln/>
        </p:spPr>
        <p:txBody>
          <a:bodyPr wrap="square" rtlCol="0" anchor="ctr"/>
          <a:lstStyle/>
          <a:p>
            <a:pPr algn="ctr" indent="0" marL="0">
              <a:buNone/>
            </a:pPr>
            <a:r>
              <a:rPr lang="en-US" sz="1800" b="1" dirty="0">
                <a:solidFill>
                  <a:srgbClr val="F78166"/>
                </a:solidFill>
                <a:latin typeface="Segoe UI Semibold" pitchFamily="34" charset="0"/>
                <a:ea typeface="Segoe UI Semibold" pitchFamily="34" charset="-122"/>
                <a:cs typeface="Segoe UI Semibold" pitchFamily="34" charset="-120"/>
              </a:rPr>
              <a:t>04</a:t>
            </a:r>
            <a:endParaRPr lang="en-US" sz="1800" dirty="0"/>
          </a:p>
        </p:txBody>
      </p:sp>
      <p:sp>
        <p:nvSpPr>
          <p:cNvPr id="28" name="Text 26"/>
          <p:cNvSpPr/>
          <p:nvPr/>
        </p:nvSpPr>
        <p:spPr>
          <a:xfrm>
            <a:off x="1234440" y="3986784"/>
            <a:ext cx="2743200" cy="274320"/>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DAX Measures</a:t>
            </a:r>
            <a:endParaRPr lang="en-US" sz="1300" dirty="0"/>
          </a:p>
        </p:txBody>
      </p:sp>
      <p:sp>
        <p:nvSpPr>
          <p:cNvPr id="29" name="Text 27"/>
          <p:cNvSpPr/>
          <p:nvPr/>
        </p:nvSpPr>
        <p:spPr>
          <a:xfrm>
            <a:off x="1234440" y="4279392"/>
            <a:ext cx="7223760" cy="274320"/>
          </a:xfrm>
          <a:prstGeom prst="rect">
            <a:avLst/>
          </a:prstGeom>
          <a:noFill/>
          <a:ln/>
        </p:spPr>
        <p:txBody>
          <a:bodyPr wrap="square" rtlCol="0" anchor="ctr"/>
          <a:lstStyle/>
          <a:p>
            <a:pPr indent="0" marL="0">
              <a:buNone/>
            </a:pPr>
            <a:r>
              <a:rPr lang="en-US" sz="1000" dirty="0">
                <a:solidFill>
                  <a:srgbClr val="8B949E"/>
                </a:solidFill>
                <a:latin typeface="Segoe UI" pitchFamily="34" charset="0"/>
                <a:ea typeface="Segoe UI" pitchFamily="34" charset="-122"/>
                <a:cs typeface="Segoe UI" pitchFamily="34" charset="-120"/>
              </a:rPr>
              <a:t>Built calculated columns and measures for KPIs including average salary and job counts.</a:t>
            </a:r>
            <a:endParaRPr lang="en-US" sz="1000" dirty="0"/>
          </a:p>
        </p:txBody>
      </p:sp>
      <p:sp>
        <p:nvSpPr>
          <p:cNvPr id="30" name="Text 28"/>
          <p:cNvSpPr/>
          <p:nvPr/>
        </p:nvSpPr>
        <p:spPr>
          <a:xfrm>
            <a:off x="457200" y="4663440"/>
            <a:ext cx="3657600" cy="256032"/>
          </a:xfrm>
          <a:prstGeom prst="rect">
            <a:avLst/>
          </a:prstGeom>
          <a:noFill/>
          <a:ln/>
        </p:spPr>
        <p:txBody>
          <a:bodyPr wrap="square" rtlCol="0" anchor="ctr"/>
          <a:lstStyle/>
          <a:p>
            <a:pPr indent="0" marL="0">
              <a:buNone/>
            </a:pPr>
            <a:r>
              <a:rPr lang="en-US" sz="1000" b="1" dirty="0">
                <a:solidFill>
                  <a:srgbClr val="C9D1D9"/>
                </a:solidFill>
                <a:latin typeface="Segoe UI Semibold" pitchFamily="34" charset="0"/>
                <a:ea typeface="Segoe UI Semibold" pitchFamily="34" charset="-122"/>
                <a:cs typeface="Segoe UI Semibold" pitchFamily="34" charset="-120"/>
              </a:rPr>
              <a:t>Specific Cleaning Actions</a:t>
            </a:r>
            <a:endParaRPr lang="en-US" sz="1000" dirty="0"/>
          </a:p>
        </p:txBody>
      </p:sp>
      <p:sp>
        <p:nvSpPr>
          <p:cNvPr id="31" name="Shape 29"/>
          <p:cNvSpPr/>
          <p:nvPr/>
        </p:nvSpPr>
        <p:spPr>
          <a:xfrm>
            <a:off x="457200" y="4919472"/>
            <a:ext cx="1920240" cy="201168"/>
          </a:xfrm>
          <a:prstGeom prst="rect">
            <a:avLst/>
          </a:prstGeom>
          <a:solidFill>
            <a:srgbClr val="21262D"/>
          </a:solidFill>
          <a:ln/>
        </p:spPr>
      </p:sp>
      <p:sp>
        <p:nvSpPr>
          <p:cNvPr id="32" name="Text 30"/>
          <p:cNvSpPr/>
          <p:nvPr/>
        </p:nvSpPr>
        <p:spPr>
          <a:xfrm>
            <a:off x="457200" y="4919472"/>
            <a:ext cx="1920240" cy="201168"/>
          </a:xfrm>
          <a:prstGeom prst="rect">
            <a:avLst/>
          </a:prstGeom>
          <a:noFill/>
          <a:ln/>
        </p:spPr>
        <p:txBody>
          <a:bodyPr wrap="square" rtlCol="0" anchor="ctr"/>
          <a:lstStyle/>
          <a:p>
            <a:pPr algn="ctr" indent="0" marL="0">
              <a:buNone/>
            </a:pPr>
            <a:r>
              <a:rPr lang="en-US" sz="850" dirty="0">
                <a:solidFill>
                  <a:srgbClr val="58A6FF"/>
                </a:solidFill>
                <a:latin typeface="Segoe UI" pitchFamily="34" charset="0"/>
                <a:ea typeface="Segoe UI" pitchFamily="34" charset="-122"/>
                <a:cs typeface="Segoe UI" pitchFamily="34" charset="-120"/>
              </a:rPr>
              <a:t>-1 salary → handled</a:t>
            </a:r>
            <a:endParaRPr lang="en-US" sz="850" dirty="0"/>
          </a:p>
        </p:txBody>
      </p:sp>
      <p:sp>
        <p:nvSpPr>
          <p:cNvPr id="33" name="Shape 31"/>
          <p:cNvSpPr/>
          <p:nvPr/>
        </p:nvSpPr>
        <p:spPr>
          <a:xfrm>
            <a:off x="2514600" y="4919472"/>
            <a:ext cx="1920240" cy="201168"/>
          </a:xfrm>
          <a:prstGeom prst="rect">
            <a:avLst/>
          </a:prstGeom>
          <a:solidFill>
            <a:srgbClr val="21262D"/>
          </a:solidFill>
          <a:ln/>
        </p:spPr>
      </p:sp>
      <p:sp>
        <p:nvSpPr>
          <p:cNvPr id="34" name="Text 32"/>
          <p:cNvSpPr/>
          <p:nvPr/>
        </p:nvSpPr>
        <p:spPr>
          <a:xfrm>
            <a:off x="2514600" y="4919472"/>
            <a:ext cx="1920240" cy="201168"/>
          </a:xfrm>
          <a:prstGeom prst="rect">
            <a:avLst/>
          </a:prstGeom>
          <a:noFill/>
          <a:ln/>
        </p:spPr>
        <p:txBody>
          <a:bodyPr wrap="square" rtlCol="0" anchor="ctr"/>
          <a:lstStyle/>
          <a:p>
            <a:pPr algn="ctr" indent="0" marL="0">
              <a:buNone/>
            </a:pPr>
            <a:r>
              <a:rPr lang="en-US" sz="850" dirty="0">
                <a:solidFill>
                  <a:srgbClr val="58A6FF"/>
                </a:solidFill>
                <a:latin typeface="Segoe UI" pitchFamily="34" charset="0"/>
                <a:ea typeface="Segoe UI" pitchFamily="34" charset="-122"/>
                <a:cs typeface="Segoe UI" pitchFamily="34" charset="-120"/>
              </a:rPr>
              <a:t>Nulls removed</a:t>
            </a:r>
            <a:endParaRPr lang="en-US" sz="850" dirty="0"/>
          </a:p>
        </p:txBody>
      </p:sp>
      <p:sp>
        <p:nvSpPr>
          <p:cNvPr id="35" name="Shape 33"/>
          <p:cNvSpPr/>
          <p:nvPr/>
        </p:nvSpPr>
        <p:spPr>
          <a:xfrm>
            <a:off x="4572000" y="4919472"/>
            <a:ext cx="1920240" cy="201168"/>
          </a:xfrm>
          <a:prstGeom prst="rect">
            <a:avLst/>
          </a:prstGeom>
          <a:solidFill>
            <a:srgbClr val="21262D"/>
          </a:solidFill>
          <a:ln/>
        </p:spPr>
      </p:sp>
      <p:sp>
        <p:nvSpPr>
          <p:cNvPr id="36" name="Text 34"/>
          <p:cNvSpPr/>
          <p:nvPr/>
        </p:nvSpPr>
        <p:spPr>
          <a:xfrm>
            <a:off x="4572000" y="4919472"/>
            <a:ext cx="1920240" cy="201168"/>
          </a:xfrm>
          <a:prstGeom prst="rect">
            <a:avLst/>
          </a:prstGeom>
          <a:noFill/>
          <a:ln/>
        </p:spPr>
        <p:txBody>
          <a:bodyPr wrap="square" rtlCol="0" anchor="ctr"/>
          <a:lstStyle/>
          <a:p>
            <a:pPr algn="ctr" indent="0" marL="0">
              <a:buNone/>
            </a:pPr>
            <a:r>
              <a:rPr lang="en-US" sz="850" dirty="0">
                <a:solidFill>
                  <a:srgbClr val="58A6FF"/>
                </a:solidFill>
                <a:latin typeface="Segoe UI" pitchFamily="34" charset="0"/>
                <a:ea typeface="Segoe UI" pitchFamily="34" charset="-122"/>
                <a:cs typeface="Segoe UI" pitchFamily="34" charset="-120"/>
              </a:rPr>
              <a:t>State standardized</a:t>
            </a:r>
            <a:endParaRPr lang="en-US" sz="850" dirty="0"/>
          </a:p>
        </p:txBody>
      </p:sp>
      <p:sp>
        <p:nvSpPr>
          <p:cNvPr id="37" name="Shape 35"/>
          <p:cNvSpPr/>
          <p:nvPr/>
        </p:nvSpPr>
        <p:spPr>
          <a:xfrm>
            <a:off x="6629400" y="4919472"/>
            <a:ext cx="1920240" cy="201168"/>
          </a:xfrm>
          <a:prstGeom prst="rect">
            <a:avLst/>
          </a:prstGeom>
          <a:solidFill>
            <a:srgbClr val="21262D"/>
          </a:solidFill>
          <a:ln/>
        </p:spPr>
      </p:sp>
      <p:sp>
        <p:nvSpPr>
          <p:cNvPr id="38" name="Text 36"/>
          <p:cNvSpPr/>
          <p:nvPr/>
        </p:nvSpPr>
        <p:spPr>
          <a:xfrm>
            <a:off x="6629400" y="4919472"/>
            <a:ext cx="1920240" cy="201168"/>
          </a:xfrm>
          <a:prstGeom prst="rect">
            <a:avLst/>
          </a:prstGeom>
          <a:noFill/>
          <a:ln/>
        </p:spPr>
        <p:txBody>
          <a:bodyPr wrap="square" rtlCol="0" anchor="ctr"/>
          <a:lstStyle/>
          <a:p>
            <a:pPr algn="ctr" indent="0" marL="0">
              <a:buNone/>
            </a:pPr>
            <a:r>
              <a:rPr lang="en-US" sz="850" dirty="0">
                <a:solidFill>
                  <a:srgbClr val="58A6FF"/>
                </a:solidFill>
                <a:latin typeface="Segoe UI" pitchFamily="34" charset="0"/>
                <a:ea typeface="Segoe UI" pitchFamily="34" charset="-122"/>
                <a:cs typeface="Segoe UI" pitchFamily="34" charset="-120"/>
              </a:rPr>
              <a:t>Job titles normalized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8A6FF"/>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06</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58A6FF"/>
                </a:solidFill>
                <a:latin typeface="Segoe UI Semibold" pitchFamily="34" charset="0"/>
                <a:ea typeface="Segoe UI Semibold" pitchFamily="34" charset="-122"/>
                <a:cs typeface="Segoe UI Semibold" pitchFamily="34" charset="-120"/>
              </a:rPr>
              <a:t>SQL QUERIES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Data Extraction &amp; Aggregation</a:t>
            </a:r>
            <a:endParaRPr lang="en-US" sz="2600" dirty="0"/>
          </a:p>
        </p:txBody>
      </p:sp>
      <p:sp>
        <p:nvSpPr>
          <p:cNvPr id="6" name="Shape 4"/>
          <p:cNvSpPr/>
          <p:nvPr/>
        </p:nvSpPr>
        <p:spPr>
          <a:xfrm>
            <a:off x="457200" y="1234440"/>
            <a:ext cx="4069080" cy="182880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4069080" cy="64008"/>
          </a:xfrm>
          <a:prstGeom prst="rect">
            <a:avLst/>
          </a:prstGeom>
          <a:solidFill>
            <a:srgbClr val="58A6FF"/>
          </a:solidFill>
          <a:ln/>
        </p:spPr>
      </p:sp>
      <p:sp>
        <p:nvSpPr>
          <p:cNvPr id="8" name="Text 6"/>
          <p:cNvSpPr/>
          <p:nvPr/>
        </p:nvSpPr>
        <p:spPr>
          <a:xfrm>
            <a:off x="594360" y="1353312"/>
            <a:ext cx="37947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Job Distribution by State</a:t>
            </a:r>
            <a:endParaRPr lang="en-US" sz="1200" dirty="0"/>
          </a:p>
        </p:txBody>
      </p:sp>
      <p:sp>
        <p:nvSpPr>
          <p:cNvPr id="9" name="Text 7"/>
          <p:cNvSpPr/>
          <p:nvPr/>
        </p:nvSpPr>
        <p:spPr>
          <a:xfrm>
            <a:off x="594360" y="1636776"/>
            <a:ext cx="3794760" cy="228600"/>
          </a:xfrm>
          <a:prstGeom prst="rect">
            <a:avLst/>
          </a:prstGeom>
          <a:noFill/>
          <a:ln/>
        </p:spPr>
        <p:txBody>
          <a:bodyPr wrap="square" rtlCol="0" anchor="ctr"/>
          <a:lstStyle/>
          <a:p>
            <a:pPr indent="0" marL="0">
              <a:buNone/>
            </a:pPr>
            <a:r>
              <a:rPr lang="en-US" sz="900" i="1" dirty="0">
                <a:solidFill>
                  <a:srgbClr val="8B949E"/>
                </a:solidFill>
                <a:latin typeface="Segoe UI" pitchFamily="34" charset="0"/>
                <a:ea typeface="Segoe UI" pitchFamily="34" charset="-122"/>
                <a:cs typeface="Segoe UI" pitchFamily="34" charset="-120"/>
              </a:rPr>
              <a:t>↳ Identify which states have the most data science job openings</a:t>
            </a:r>
            <a:endParaRPr lang="en-US" sz="900" dirty="0"/>
          </a:p>
        </p:txBody>
      </p:sp>
      <p:sp>
        <p:nvSpPr>
          <p:cNvPr id="10" name="Shape 8"/>
          <p:cNvSpPr/>
          <p:nvPr/>
        </p:nvSpPr>
        <p:spPr>
          <a:xfrm>
            <a:off x="594360" y="1920240"/>
            <a:ext cx="3794760" cy="1005840"/>
          </a:xfrm>
          <a:prstGeom prst="rect">
            <a:avLst/>
          </a:prstGeom>
          <a:solidFill>
            <a:srgbClr val="0D1117"/>
          </a:solidFill>
          <a:ln/>
        </p:spPr>
      </p:sp>
      <p:sp>
        <p:nvSpPr>
          <p:cNvPr id="11" name="Text 9"/>
          <p:cNvSpPr/>
          <p:nvPr/>
        </p:nvSpPr>
        <p:spPr>
          <a:xfrm>
            <a:off x="685800" y="1984248"/>
            <a:ext cx="3611880" cy="914400"/>
          </a:xfrm>
          <a:prstGeom prst="rect">
            <a:avLst/>
          </a:prstGeom>
          <a:noFill/>
          <a:ln/>
        </p:spPr>
        <p:txBody>
          <a:bodyPr wrap="square" rtlCol="0" anchor="ctr"/>
          <a:lstStyle/>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SELECT state, COUNT(*) AS total_jobs</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FROM jobs</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GROUP BY state</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ORDER BY total_jobs DESC;</a:t>
            </a:r>
            <a:endParaRPr lang="en-US" sz="950" dirty="0"/>
          </a:p>
        </p:txBody>
      </p:sp>
      <p:sp>
        <p:nvSpPr>
          <p:cNvPr id="12" name="Shape 10"/>
          <p:cNvSpPr/>
          <p:nvPr/>
        </p:nvSpPr>
        <p:spPr>
          <a:xfrm>
            <a:off x="4800600" y="1234440"/>
            <a:ext cx="4069080" cy="182880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3" name="Shape 11"/>
          <p:cNvSpPr/>
          <p:nvPr/>
        </p:nvSpPr>
        <p:spPr>
          <a:xfrm>
            <a:off x="4800600" y="1234440"/>
            <a:ext cx="4069080" cy="64008"/>
          </a:xfrm>
          <a:prstGeom prst="rect">
            <a:avLst/>
          </a:prstGeom>
          <a:solidFill>
            <a:srgbClr val="58A6FF"/>
          </a:solidFill>
          <a:ln/>
        </p:spPr>
      </p:sp>
      <p:sp>
        <p:nvSpPr>
          <p:cNvPr id="14" name="Text 12"/>
          <p:cNvSpPr/>
          <p:nvPr/>
        </p:nvSpPr>
        <p:spPr>
          <a:xfrm>
            <a:off x="4937760" y="1353312"/>
            <a:ext cx="37947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Top 5 Industries by Hiring</a:t>
            </a:r>
            <a:endParaRPr lang="en-US" sz="1200" dirty="0"/>
          </a:p>
        </p:txBody>
      </p:sp>
      <p:sp>
        <p:nvSpPr>
          <p:cNvPr id="15" name="Text 13"/>
          <p:cNvSpPr/>
          <p:nvPr/>
        </p:nvSpPr>
        <p:spPr>
          <a:xfrm>
            <a:off x="4937760" y="1636776"/>
            <a:ext cx="3794760" cy="228600"/>
          </a:xfrm>
          <a:prstGeom prst="rect">
            <a:avLst/>
          </a:prstGeom>
          <a:noFill/>
          <a:ln/>
        </p:spPr>
        <p:txBody>
          <a:bodyPr wrap="square" rtlCol="0" anchor="ctr"/>
          <a:lstStyle/>
          <a:p>
            <a:pPr indent="0" marL="0">
              <a:buNone/>
            </a:pPr>
            <a:r>
              <a:rPr lang="en-US" sz="900" i="1" dirty="0">
                <a:solidFill>
                  <a:srgbClr val="8B949E"/>
                </a:solidFill>
                <a:latin typeface="Segoe UI" pitchFamily="34" charset="0"/>
                <a:ea typeface="Segoe UI" pitchFamily="34" charset="-122"/>
                <a:cs typeface="Segoe UI" pitchFamily="34" charset="-120"/>
              </a:rPr>
              <a:t>↳ Find industries actively recruiting for data roles</a:t>
            </a:r>
            <a:endParaRPr lang="en-US" sz="900" dirty="0"/>
          </a:p>
        </p:txBody>
      </p:sp>
      <p:sp>
        <p:nvSpPr>
          <p:cNvPr id="16" name="Shape 14"/>
          <p:cNvSpPr/>
          <p:nvPr/>
        </p:nvSpPr>
        <p:spPr>
          <a:xfrm>
            <a:off x="4937760" y="1920240"/>
            <a:ext cx="3794760" cy="1005840"/>
          </a:xfrm>
          <a:prstGeom prst="rect">
            <a:avLst/>
          </a:prstGeom>
          <a:solidFill>
            <a:srgbClr val="0D1117"/>
          </a:solidFill>
          <a:ln/>
        </p:spPr>
      </p:sp>
      <p:sp>
        <p:nvSpPr>
          <p:cNvPr id="17" name="Text 15"/>
          <p:cNvSpPr/>
          <p:nvPr/>
        </p:nvSpPr>
        <p:spPr>
          <a:xfrm>
            <a:off x="5029200" y="1984248"/>
            <a:ext cx="3611880" cy="914400"/>
          </a:xfrm>
          <a:prstGeom prst="rect">
            <a:avLst/>
          </a:prstGeom>
          <a:noFill/>
          <a:ln/>
        </p:spPr>
        <p:txBody>
          <a:bodyPr wrap="square" rtlCol="0" anchor="ctr"/>
          <a:lstStyle/>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SELECT industry, COUNT(*) AS total_jobs</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FROM jobs</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GROUP BY industry</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ORDER BY total_jobs DESC</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LIMIT 5;</a:t>
            </a:r>
            <a:endParaRPr lang="en-US" sz="950" dirty="0"/>
          </a:p>
        </p:txBody>
      </p:sp>
      <p:sp>
        <p:nvSpPr>
          <p:cNvPr id="18" name="Shape 16"/>
          <p:cNvSpPr/>
          <p:nvPr/>
        </p:nvSpPr>
        <p:spPr>
          <a:xfrm>
            <a:off x="457200" y="3246120"/>
            <a:ext cx="8229600" cy="182880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9" name="Shape 17"/>
          <p:cNvSpPr/>
          <p:nvPr/>
        </p:nvSpPr>
        <p:spPr>
          <a:xfrm>
            <a:off x="457200" y="3246120"/>
            <a:ext cx="8229600" cy="64008"/>
          </a:xfrm>
          <a:prstGeom prst="rect">
            <a:avLst/>
          </a:prstGeom>
          <a:solidFill>
            <a:srgbClr val="58A6FF"/>
          </a:solidFill>
          <a:ln/>
        </p:spPr>
      </p:sp>
      <p:sp>
        <p:nvSpPr>
          <p:cNvPr id="20" name="Text 18"/>
          <p:cNvSpPr/>
          <p:nvPr/>
        </p:nvSpPr>
        <p:spPr>
          <a:xfrm>
            <a:off x="594360" y="3364992"/>
            <a:ext cx="795528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Average Salary by Job Title</a:t>
            </a:r>
            <a:endParaRPr lang="en-US" sz="1200" dirty="0"/>
          </a:p>
        </p:txBody>
      </p:sp>
      <p:sp>
        <p:nvSpPr>
          <p:cNvPr id="21" name="Text 19"/>
          <p:cNvSpPr/>
          <p:nvPr/>
        </p:nvSpPr>
        <p:spPr>
          <a:xfrm>
            <a:off x="594360" y="3648456"/>
            <a:ext cx="7955280" cy="228600"/>
          </a:xfrm>
          <a:prstGeom prst="rect">
            <a:avLst/>
          </a:prstGeom>
          <a:noFill/>
          <a:ln/>
        </p:spPr>
        <p:txBody>
          <a:bodyPr wrap="square" rtlCol="0" anchor="ctr"/>
          <a:lstStyle/>
          <a:p>
            <a:pPr indent="0" marL="0">
              <a:buNone/>
            </a:pPr>
            <a:r>
              <a:rPr lang="en-US" sz="900" i="1" dirty="0">
                <a:solidFill>
                  <a:srgbClr val="8B949E"/>
                </a:solidFill>
                <a:latin typeface="Segoe UI" pitchFamily="34" charset="0"/>
                <a:ea typeface="Segoe UI" pitchFamily="34" charset="-122"/>
                <a:cs typeface="Segoe UI" pitchFamily="34" charset="-120"/>
              </a:rPr>
              <a:t>↳ Compare compensation across different data science roles</a:t>
            </a:r>
            <a:endParaRPr lang="en-US" sz="900" dirty="0"/>
          </a:p>
        </p:txBody>
      </p:sp>
      <p:sp>
        <p:nvSpPr>
          <p:cNvPr id="22" name="Shape 20"/>
          <p:cNvSpPr/>
          <p:nvPr/>
        </p:nvSpPr>
        <p:spPr>
          <a:xfrm>
            <a:off x="594360" y="3931920"/>
            <a:ext cx="7955280" cy="1005840"/>
          </a:xfrm>
          <a:prstGeom prst="rect">
            <a:avLst/>
          </a:prstGeom>
          <a:solidFill>
            <a:srgbClr val="0D1117"/>
          </a:solidFill>
          <a:ln/>
        </p:spPr>
      </p:sp>
      <p:sp>
        <p:nvSpPr>
          <p:cNvPr id="23" name="Text 21"/>
          <p:cNvSpPr/>
          <p:nvPr/>
        </p:nvSpPr>
        <p:spPr>
          <a:xfrm>
            <a:off x="685800" y="3995928"/>
            <a:ext cx="7772400" cy="914400"/>
          </a:xfrm>
          <a:prstGeom prst="rect">
            <a:avLst/>
          </a:prstGeom>
          <a:noFill/>
          <a:ln/>
        </p:spPr>
        <p:txBody>
          <a:bodyPr wrap="square" rtlCol="0" anchor="ctr"/>
          <a:lstStyle/>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SELECT job_title,</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  AVG(avg_salaryK) AS avg_salary</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FROM jobs</a:t>
            </a:r>
            <a:endParaRPr lang="en-US" sz="950" dirty="0"/>
          </a:p>
          <a:p>
            <a:pPr indent="0" marL="0">
              <a:lnSpc>
                <a:spcPct val="150000"/>
              </a:lnSpc>
              <a:buNone/>
            </a:pPr>
            <a:r>
              <a:rPr lang="en-US" sz="950" dirty="0">
                <a:solidFill>
                  <a:srgbClr val="79C0FF"/>
                </a:solidFill>
                <a:latin typeface="Consolas" pitchFamily="34" charset="0"/>
                <a:ea typeface="Consolas" pitchFamily="34" charset="-122"/>
                <a:cs typeface="Consolas" pitchFamily="34" charset="-120"/>
              </a:rPr>
              <a:t>GROUP BY job_title;</a:t>
            </a:r>
            <a:endParaRPr lang="en-US" sz="950" dirty="0"/>
          </a:p>
        </p:txBody>
      </p:sp>
      <p:sp>
        <p:nvSpPr>
          <p:cNvPr id="24" name="Shape 22"/>
          <p:cNvSpPr/>
          <p:nvPr/>
        </p:nvSpPr>
        <p:spPr>
          <a:xfrm>
            <a:off x="0" y="4983480"/>
            <a:ext cx="9144000" cy="155448"/>
          </a:xfrm>
          <a:prstGeom prst="rect">
            <a:avLst/>
          </a:prstGeom>
          <a:solidFill>
            <a:srgbClr val="21262D"/>
          </a:solidFill>
          <a:ln/>
        </p:spPr>
      </p:sp>
      <p:sp>
        <p:nvSpPr>
          <p:cNvPr id="25" name="Text 23"/>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9D0D8"/>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07</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39D0D8"/>
                </a:solidFill>
                <a:latin typeface="Segoe UI Semibold" pitchFamily="34" charset="0"/>
                <a:ea typeface="Segoe UI Semibold" pitchFamily="34" charset="-122"/>
                <a:cs typeface="Segoe UI Semibold" pitchFamily="34" charset="-120"/>
              </a:rPr>
              <a:t>DAX MEASURES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Calculated KPIs in Power BI</a:t>
            </a:r>
            <a:endParaRPr lang="en-US" sz="2600" dirty="0"/>
          </a:p>
        </p:txBody>
      </p:sp>
      <p:sp>
        <p:nvSpPr>
          <p:cNvPr id="6" name="Shape 4"/>
          <p:cNvSpPr/>
          <p:nvPr/>
        </p:nvSpPr>
        <p:spPr>
          <a:xfrm>
            <a:off x="457200" y="123444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57200" y="1234440"/>
            <a:ext cx="2670048" cy="64008"/>
          </a:xfrm>
          <a:prstGeom prst="rect">
            <a:avLst/>
          </a:prstGeom>
          <a:solidFill>
            <a:srgbClr val="58A6FF"/>
          </a:solidFill>
          <a:ln/>
        </p:spPr>
      </p:sp>
      <p:sp>
        <p:nvSpPr>
          <p:cNvPr id="8" name="Text 6"/>
          <p:cNvSpPr/>
          <p:nvPr/>
        </p:nvSpPr>
        <p:spPr>
          <a:xfrm>
            <a:off x="594360" y="135331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Total Jobs</a:t>
            </a:r>
            <a:endParaRPr lang="en-US" sz="1200" dirty="0"/>
          </a:p>
        </p:txBody>
      </p:sp>
      <p:sp>
        <p:nvSpPr>
          <p:cNvPr id="9" name="Shape 7"/>
          <p:cNvSpPr/>
          <p:nvPr/>
        </p:nvSpPr>
        <p:spPr>
          <a:xfrm>
            <a:off x="566928" y="1691640"/>
            <a:ext cx="2450592" cy="384048"/>
          </a:xfrm>
          <a:prstGeom prst="rect">
            <a:avLst/>
          </a:prstGeom>
          <a:solidFill>
            <a:srgbClr val="0D1117"/>
          </a:solidFill>
          <a:ln/>
        </p:spPr>
      </p:sp>
      <p:sp>
        <p:nvSpPr>
          <p:cNvPr id="10" name="Text 8"/>
          <p:cNvSpPr/>
          <p:nvPr/>
        </p:nvSpPr>
        <p:spPr>
          <a:xfrm>
            <a:off x="621792" y="173736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COUNTROWS(Jobs)</a:t>
            </a:r>
            <a:endParaRPr lang="en-US" sz="850" dirty="0"/>
          </a:p>
        </p:txBody>
      </p:sp>
      <p:sp>
        <p:nvSpPr>
          <p:cNvPr id="11" name="Text 9"/>
          <p:cNvSpPr/>
          <p:nvPr/>
        </p:nvSpPr>
        <p:spPr>
          <a:xfrm>
            <a:off x="594360" y="2148840"/>
            <a:ext cx="2423160" cy="274320"/>
          </a:xfrm>
          <a:prstGeom prst="rect">
            <a:avLst/>
          </a:prstGeom>
          <a:noFill/>
          <a:ln/>
        </p:spPr>
        <p:txBody>
          <a:bodyPr wrap="square" rtlCol="0" anchor="ctr"/>
          <a:lstStyle/>
          <a:p>
            <a:pPr indent="0" marL="0">
              <a:buNone/>
            </a:pPr>
            <a:r>
              <a:rPr lang="en-US" sz="1400" b="1" dirty="0">
                <a:solidFill>
                  <a:srgbClr val="58A6FF"/>
                </a:solidFill>
                <a:latin typeface="Segoe UI Semibold" pitchFamily="34" charset="0"/>
                <a:ea typeface="Segoe UI Semibold" pitchFamily="34" charset="-122"/>
                <a:cs typeface="Segoe UI Semibold" pitchFamily="34" charset="-120"/>
              </a:rPr>
              <a:t>→ 465</a:t>
            </a:r>
            <a:endParaRPr lang="en-US" sz="1400" dirty="0"/>
          </a:p>
        </p:txBody>
      </p:sp>
      <p:sp>
        <p:nvSpPr>
          <p:cNvPr id="12" name="Text 10"/>
          <p:cNvSpPr/>
          <p:nvPr/>
        </p:nvSpPr>
        <p:spPr>
          <a:xfrm>
            <a:off x="594360" y="245059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Counts total job postings in the filtered view</a:t>
            </a:r>
            <a:endParaRPr lang="en-US" sz="900" dirty="0"/>
          </a:p>
        </p:txBody>
      </p:sp>
      <p:sp>
        <p:nvSpPr>
          <p:cNvPr id="13" name="Shape 11"/>
          <p:cNvSpPr/>
          <p:nvPr/>
        </p:nvSpPr>
        <p:spPr>
          <a:xfrm>
            <a:off x="3310128" y="123444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4" name="Shape 12"/>
          <p:cNvSpPr/>
          <p:nvPr/>
        </p:nvSpPr>
        <p:spPr>
          <a:xfrm>
            <a:off x="3310128" y="1234440"/>
            <a:ext cx="2670048" cy="64008"/>
          </a:xfrm>
          <a:prstGeom prst="rect">
            <a:avLst/>
          </a:prstGeom>
          <a:solidFill>
            <a:srgbClr val="39D0D8"/>
          </a:solidFill>
          <a:ln/>
        </p:spPr>
      </p:sp>
      <p:sp>
        <p:nvSpPr>
          <p:cNvPr id="15" name="Text 13"/>
          <p:cNvSpPr/>
          <p:nvPr/>
        </p:nvSpPr>
        <p:spPr>
          <a:xfrm>
            <a:off x="3447288" y="135331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Avg Salary</a:t>
            </a:r>
            <a:endParaRPr lang="en-US" sz="1200" dirty="0"/>
          </a:p>
        </p:txBody>
      </p:sp>
      <p:sp>
        <p:nvSpPr>
          <p:cNvPr id="16" name="Shape 14"/>
          <p:cNvSpPr/>
          <p:nvPr/>
        </p:nvSpPr>
        <p:spPr>
          <a:xfrm>
            <a:off x="3419856" y="1691640"/>
            <a:ext cx="2450592" cy="384048"/>
          </a:xfrm>
          <a:prstGeom prst="rect">
            <a:avLst/>
          </a:prstGeom>
          <a:solidFill>
            <a:srgbClr val="0D1117"/>
          </a:solidFill>
          <a:ln/>
        </p:spPr>
      </p:sp>
      <p:sp>
        <p:nvSpPr>
          <p:cNvPr id="17" name="Text 15"/>
          <p:cNvSpPr/>
          <p:nvPr/>
        </p:nvSpPr>
        <p:spPr>
          <a:xfrm>
            <a:off x="3474720" y="173736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AVERAGE(Jobs[avg_salaryK])</a:t>
            </a:r>
            <a:endParaRPr lang="en-US" sz="850" dirty="0"/>
          </a:p>
        </p:txBody>
      </p:sp>
      <p:sp>
        <p:nvSpPr>
          <p:cNvPr id="18" name="Text 16"/>
          <p:cNvSpPr/>
          <p:nvPr/>
        </p:nvSpPr>
        <p:spPr>
          <a:xfrm>
            <a:off x="3447288" y="2148840"/>
            <a:ext cx="2423160" cy="274320"/>
          </a:xfrm>
          <a:prstGeom prst="rect">
            <a:avLst/>
          </a:prstGeom>
          <a:noFill/>
          <a:ln/>
        </p:spPr>
        <p:txBody>
          <a:bodyPr wrap="square" rtlCol="0" anchor="ctr"/>
          <a:lstStyle/>
          <a:p>
            <a:pPr indent="0" marL="0">
              <a:buNone/>
            </a:pPr>
            <a:r>
              <a:rPr lang="en-US" sz="1400" b="1" dirty="0">
                <a:solidFill>
                  <a:srgbClr val="39D0D8"/>
                </a:solidFill>
                <a:latin typeface="Segoe UI Semibold" pitchFamily="34" charset="0"/>
                <a:ea typeface="Segoe UI Semibold" pitchFamily="34" charset="-122"/>
                <a:cs typeface="Segoe UI Semibold" pitchFamily="34" charset="-120"/>
              </a:rPr>
              <a:t>→ $101.56K</a:t>
            </a:r>
            <a:endParaRPr lang="en-US" sz="1400" dirty="0"/>
          </a:p>
        </p:txBody>
      </p:sp>
      <p:sp>
        <p:nvSpPr>
          <p:cNvPr id="19" name="Text 17"/>
          <p:cNvSpPr/>
          <p:nvPr/>
        </p:nvSpPr>
        <p:spPr>
          <a:xfrm>
            <a:off x="3447288" y="245059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Mean salary across all job listings</a:t>
            </a:r>
            <a:endParaRPr lang="en-US" sz="900" dirty="0"/>
          </a:p>
        </p:txBody>
      </p:sp>
      <p:sp>
        <p:nvSpPr>
          <p:cNvPr id="20" name="Shape 18"/>
          <p:cNvSpPr/>
          <p:nvPr/>
        </p:nvSpPr>
        <p:spPr>
          <a:xfrm>
            <a:off x="6163056" y="123444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1" name="Shape 19"/>
          <p:cNvSpPr/>
          <p:nvPr/>
        </p:nvSpPr>
        <p:spPr>
          <a:xfrm>
            <a:off x="6163056" y="1234440"/>
            <a:ext cx="2670048" cy="64008"/>
          </a:xfrm>
          <a:prstGeom prst="rect">
            <a:avLst/>
          </a:prstGeom>
          <a:solidFill>
            <a:srgbClr val="3FB950"/>
          </a:solidFill>
          <a:ln/>
        </p:spPr>
      </p:sp>
      <p:sp>
        <p:nvSpPr>
          <p:cNvPr id="22" name="Text 20"/>
          <p:cNvSpPr/>
          <p:nvPr/>
        </p:nvSpPr>
        <p:spPr>
          <a:xfrm>
            <a:off x="6300216" y="135331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Total Companies</a:t>
            </a:r>
            <a:endParaRPr lang="en-US" sz="1200" dirty="0"/>
          </a:p>
        </p:txBody>
      </p:sp>
      <p:sp>
        <p:nvSpPr>
          <p:cNvPr id="23" name="Shape 21"/>
          <p:cNvSpPr/>
          <p:nvPr/>
        </p:nvSpPr>
        <p:spPr>
          <a:xfrm>
            <a:off x="6272784" y="1691640"/>
            <a:ext cx="2450592" cy="384048"/>
          </a:xfrm>
          <a:prstGeom prst="rect">
            <a:avLst/>
          </a:prstGeom>
          <a:solidFill>
            <a:srgbClr val="0D1117"/>
          </a:solidFill>
          <a:ln/>
        </p:spPr>
      </p:sp>
      <p:sp>
        <p:nvSpPr>
          <p:cNvPr id="24" name="Text 22"/>
          <p:cNvSpPr/>
          <p:nvPr/>
        </p:nvSpPr>
        <p:spPr>
          <a:xfrm>
            <a:off x="6327648" y="173736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DISTINCTCOUNT(Jobs[Company Name])</a:t>
            </a:r>
            <a:endParaRPr lang="en-US" sz="850" dirty="0"/>
          </a:p>
        </p:txBody>
      </p:sp>
      <p:sp>
        <p:nvSpPr>
          <p:cNvPr id="25" name="Text 23"/>
          <p:cNvSpPr/>
          <p:nvPr/>
        </p:nvSpPr>
        <p:spPr>
          <a:xfrm>
            <a:off x="6300216" y="2148840"/>
            <a:ext cx="2423160" cy="274320"/>
          </a:xfrm>
          <a:prstGeom prst="rect">
            <a:avLst/>
          </a:prstGeom>
          <a:noFill/>
          <a:ln/>
        </p:spPr>
        <p:txBody>
          <a:bodyPr wrap="square" rtlCol="0" anchor="ctr"/>
          <a:lstStyle/>
          <a:p>
            <a:pPr indent="0" marL="0">
              <a:buNone/>
            </a:pPr>
            <a:r>
              <a:rPr lang="en-US" sz="1400" b="1" dirty="0">
                <a:solidFill>
                  <a:srgbClr val="3FB950"/>
                </a:solidFill>
                <a:latin typeface="Segoe UI Semibold" pitchFamily="34" charset="0"/>
                <a:ea typeface="Segoe UI Semibold" pitchFamily="34" charset="-122"/>
                <a:cs typeface="Segoe UI Semibold" pitchFamily="34" charset="-120"/>
              </a:rPr>
              <a:t>→ 341</a:t>
            </a:r>
            <a:endParaRPr lang="en-US" sz="1400" dirty="0"/>
          </a:p>
        </p:txBody>
      </p:sp>
      <p:sp>
        <p:nvSpPr>
          <p:cNvPr id="26" name="Text 24"/>
          <p:cNvSpPr/>
          <p:nvPr/>
        </p:nvSpPr>
        <p:spPr>
          <a:xfrm>
            <a:off x="6300216" y="245059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Unique companies with active postings</a:t>
            </a:r>
            <a:endParaRPr lang="en-US" sz="900" dirty="0"/>
          </a:p>
        </p:txBody>
      </p:sp>
      <p:sp>
        <p:nvSpPr>
          <p:cNvPr id="27" name="Shape 25"/>
          <p:cNvSpPr/>
          <p:nvPr/>
        </p:nvSpPr>
        <p:spPr>
          <a:xfrm>
            <a:off x="457200" y="301752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8" name="Shape 26"/>
          <p:cNvSpPr/>
          <p:nvPr/>
        </p:nvSpPr>
        <p:spPr>
          <a:xfrm>
            <a:off x="457200" y="3017520"/>
            <a:ext cx="2670048" cy="64008"/>
          </a:xfrm>
          <a:prstGeom prst="rect">
            <a:avLst/>
          </a:prstGeom>
          <a:solidFill>
            <a:srgbClr val="F78166"/>
          </a:solidFill>
          <a:ln/>
        </p:spPr>
      </p:sp>
      <p:sp>
        <p:nvSpPr>
          <p:cNvPr id="29" name="Text 27"/>
          <p:cNvSpPr/>
          <p:nvPr/>
        </p:nvSpPr>
        <p:spPr>
          <a:xfrm>
            <a:off x="594360" y="313639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Total Industries</a:t>
            </a:r>
            <a:endParaRPr lang="en-US" sz="1200" dirty="0"/>
          </a:p>
        </p:txBody>
      </p:sp>
      <p:sp>
        <p:nvSpPr>
          <p:cNvPr id="30" name="Shape 28"/>
          <p:cNvSpPr/>
          <p:nvPr/>
        </p:nvSpPr>
        <p:spPr>
          <a:xfrm>
            <a:off x="566928" y="3474720"/>
            <a:ext cx="2450592" cy="384048"/>
          </a:xfrm>
          <a:prstGeom prst="rect">
            <a:avLst/>
          </a:prstGeom>
          <a:solidFill>
            <a:srgbClr val="0D1117"/>
          </a:solidFill>
          <a:ln/>
        </p:spPr>
      </p:sp>
      <p:sp>
        <p:nvSpPr>
          <p:cNvPr id="31" name="Text 29"/>
          <p:cNvSpPr/>
          <p:nvPr/>
        </p:nvSpPr>
        <p:spPr>
          <a:xfrm>
            <a:off x="621792" y="352044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DISTINCTCOUNT(Jobs[Industry])</a:t>
            </a:r>
            <a:endParaRPr lang="en-US" sz="850" dirty="0"/>
          </a:p>
        </p:txBody>
      </p:sp>
      <p:sp>
        <p:nvSpPr>
          <p:cNvPr id="32" name="Text 30"/>
          <p:cNvSpPr/>
          <p:nvPr/>
        </p:nvSpPr>
        <p:spPr>
          <a:xfrm>
            <a:off x="594360" y="3931920"/>
            <a:ext cx="2423160" cy="274320"/>
          </a:xfrm>
          <a:prstGeom prst="rect">
            <a:avLst/>
          </a:prstGeom>
          <a:noFill/>
          <a:ln/>
        </p:spPr>
        <p:txBody>
          <a:bodyPr wrap="square" rtlCol="0" anchor="ctr"/>
          <a:lstStyle/>
          <a:p>
            <a:pPr indent="0" marL="0">
              <a:buNone/>
            </a:pPr>
            <a:r>
              <a:rPr lang="en-US" sz="1400" b="1" dirty="0">
                <a:solidFill>
                  <a:srgbClr val="F78166"/>
                </a:solidFill>
                <a:latin typeface="Segoe UI Semibold" pitchFamily="34" charset="0"/>
                <a:ea typeface="Segoe UI Semibold" pitchFamily="34" charset="-122"/>
                <a:cs typeface="Segoe UI Semibold" pitchFamily="34" charset="-120"/>
              </a:rPr>
              <a:t>→ 60</a:t>
            </a:r>
            <a:endParaRPr lang="en-US" sz="1400" dirty="0"/>
          </a:p>
        </p:txBody>
      </p:sp>
      <p:sp>
        <p:nvSpPr>
          <p:cNvPr id="33" name="Text 31"/>
          <p:cNvSpPr/>
          <p:nvPr/>
        </p:nvSpPr>
        <p:spPr>
          <a:xfrm>
            <a:off x="594360" y="423367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Number of distinct industries represented</a:t>
            </a:r>
            <a:endParaRPr lang="en-US" sz="900" dirty="0"/>
          </a:p>
        </p:txBody>
      </p:sp>
      <p:sp>
        <p:nvSpPr>
          <p:cNvPr id="34" name="Shape 32"/>
          <p:cNvSpPr/>
          <p:nvPr/>
        </p:nvSpPr>
        <p:spPr>
          <a:xfrm>
            <a:off x="3310128" y="301752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5" name="Shape 33"/>
          <p:cNvSpPr/>
          <p:nvPr/>
        </p:nvSpPr>
        <p:spPr>
          <a:xfrm>
            <a:off x="3310128" y="3017520"/>
            <a:ext cx="2670048" cy="64008"/>
          </a:xfrm>
          <a:prstGeom prst="rect">
            <a:avLst/>
          </a:prstGeom>
          <a:solidFill>
            <a:srgbClr val="A371F7"/>
          </a:solidFill>
          <a:ln/>
        </p:spPr>
      </p:sp>
      <p:sp>
        <p:nvSpPr>
          <p:cNvPr id="36" name="Text 34"/>
          <p:cNvSpPr/>
          <p:nvPr/>
        </p:nvSpPr>
        <p:spPr>
          <a:xfrm>
            <a:off x="3447288" y="313639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Avg Min Salary</a:t>
            </a:r>
            <a:endParaRPr lang="en-US" sz="1200" dirty="0"/>
          </a:p>
        </p:txBody>
      </p:sp>
      <p:sp>
        <p:nvSpPr>
          <p:cNvPr id="37" name="Shape 35"/>
          <p:cNvSpPr/>
          <p:nvPr/>
        </p:nvSpPr>
        <p:spPr>
          <a:xfrm>
            <a:off x="3419856" y="3474720"/>
            <a:ext cx="2450592" cy="384048"/>
          </a:xfrm>
          <a:prstGeom prst="rect">
            <a:avLst/>
          </a:prstGeom>
          <a:solidFill>
            <a:srgbClr val="0D1117"/>
          </a:solidFill>
          <a:ln/>
        </p:spPr>
      </p:sp>
      <p:sp>
        <p:nvSpPr>
          <p:cNvPr id="38" name="Text 36"/>
          <p:cNvSpPr/>
          <p:nvPr/>
        </p:nvSpPr>
        <p:spPr>
          <a:xfrm>
            <a:off x="3474720" y="352044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AVERAGE(Jobs[lower_salary])</a:t>
            </a:r>
            <a:endParaRPr lang="en-US" sz="850" dirty="0"/>
          </a:p>
        </p:txBody>
      </p:sp>
      <p:sp>
        <p:nvSpPr>
          <p:cNvPr id="39" name="Text 37"/>
          <p:cNvSpPr/>
          <p:nvPr/>
        </p:nvSpPr>
        <p:spPr>
          <a:xfrm>
            <a:off x="3447288" y="3931920"/>
            <a:ext cx="2423160" cy="274320"/>
          </a:xfrm>
          <a:prstGeom prst="rect">
            <a:avLst/>
          </a:prstGeom>
          <a:noFill/>
          <a:ln/>
        </p:spPr>
        <p:txBody>
          <a:bodyPr wrap="square" rtlCol="0" anchor="ctr"/>
          <a:lstStyle/>
          <a:p>
            <a:pPr indent="0" marL="0">
              <a:buNone/>
            </a:pPr>
            <a:r>
              <a:rPr lang="en-US" sz="1400" b="1" dirty="0">
                <a:solidFill>
                  <a:srgbClr val="A371F7"/>
                </a:solidFill>
                <a:latin typeface="Segoe UI Semibold" pitchFamily="34" charset="0"/>
                <a:ea typeface="Segoe UI Semibold" pitchFamily="34" charset="-122"/>
                <a:cs typeface="Segoe UI Semibold" pitchFamily="34" charset="-120"/>
              </a:rPr>
              <a:t>→ ~$74K</a:t>
            </a:r>
            <a:endParaRPr lang="en-US" sz="1400" dirty="0"/>
          </a:p>
        </p:txBody>
      </p:sp>
      <p:sp>
        <p:nvSpPr>
          <p:cNvPr id="40" name="Text 38"/>
          <p:cNvSpPr/>
          <p:nvPr/>
        </p:nvSpPr>
        <p:spPr>
          <a:xfrm>
            <a:off x="3447288" y="423367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Average lower bound of posted salary ranges</a:t>
            </a:r>
            <a:endParaRPr lang="en-US" sz="900" dirty="0"/>
          </a:p>
        </p:txBody>
      </p:sp>
      <p:sp>
        <p:nvSpPr>
          <p:cNvPr id="41" name="Shape 39"/>
          <p:cNvSpPr/>
          <p:nvPr/>
        </p:nvSpPr>
        <p:spPr>
          <a:xfrm>
            <a:off x="6163056" y="3017520"/>
            <a:ext cx="2670048" cy="162763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42" name="Shape 40"/>
          <p:cNvSpPr/>
          <p:nvPr/>
        </p:nvSpPr>
        <p:spPr>
          <a:xfrm>
            <a:off x="6163056" y="3017520"/>
            <a:ext cx="2670048" cy="64008"/>
          </a:xfrm>
          <a:prstGeom prst="rect">
            <a:avLst/>
          </a:prstGeom>
          <a:solidFill>
            <a:srgbClr val="58A6FF"/>
          </a:solidFill>
          <a:ln/>
        </p:spPr>
      </p:sp>
      <p:sp>
        <p:nvSpPr>
          <p:cNvPr id="43" name="Text 41"/>
          <p:cNvSpPr/>
          <p:nvPr/>
        </p:nvSpPr>
        <p:spPr>
          <a:xfrm>
            <a:off x="6300216" y="3136392"/>
            <a:ext cx="2423160" cy="27432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Avg Max Salary</a:t>
            </a:r>
            <a:endParaRPr lang="en-US" sz="1200" dirty="0"/>
          </a:p>
        </p:txBody>
      </p:sp>
      <p:sp>
        <p:nvSpPr>
          <p:cNvPr id="44" name="Shape 42"/>
          <p:cNvSpPr/>
          <p:nvPr/>
        </p:nvSpPr>
        <p:spPr>
          <a:xfrm>
            <a:off x="6272784" y="3474720"/>
            <a:ext cx="2450592" cy="384048"/>
          </a:xfrm>
          <a:prstGeom prst="rect">
            <a:avLst/>
          </a:prstGeom>
          <a:solidFill>
            <a:srgbClr val="0D1117"/>
          </a:solidFill>
          <a:ln/>
        </p:spPr>
      </p:sp>
      <p:sp>
        <p:nvSpPr>
          <p:cNvPr id="45" name="Text 43"/>
          <p:cNvSpPr/>
          <p:nvPr/>
        </p:nvSpPr>
        <p:spPr>
          <a:xfrm>
            <a:off x="6327648" y="3520440"/>
            <a:ext cx="2359152" cy="320040"/>
          </a:xfrm>
          <a:prstGeom prst="rect">
            <a:avLst/>
          </a:prstGeom>
          <a:noFill/>
          <a:ln/>
        </p:spPr>
        <p:txBody>
          <a:bodyPr wrap="square" rtlCol="0" anchor="ctr"/>
          <a:lstStyle/>
          <a:p>
            <a:pPr indent="0" marL="0">
              <a:buNone/>
            </a:pPr>
            <a:r>
              <a:rPr lang="en-US" sz="850" dirty="0">
                <a:solidFill>
                  <a:srgbClr val="79C0FF"/>
                </a:solidFill>
                <a:latin typeface="Consolas" pitchFamily="34" charset="0"/>
                <a:ea typeface="Consolas" pitchFamily="34" charset="-122"/>
                <a:cs typeface="Consolas" pitchFamily="34" charset="-120"/>
              </a:rPr>
              <a:t>= AVERAGE(Jobs[upper_salary])</a:t>
            </a:r>
            <a:endParaRPr lang="en-US" sz="850" dirty="0"/>
          </a:p>
        </p:txBody>
      </p:sp>
      <p:sp>
        <p:nvSpPr>
          <p:cNvPr id="46" name="Text 44"/>
          <p:cNvSpPr/>
          <p:nvPr/>
        </p:nvSpPr>
        <p:spPr>
          <a:xfrm>
            <a:off x="6300216" y="3931920"/>
            <a:ext cx="2423160" cy="274320"/>
          </a:xfrm>
          <a:prstGeom prst="rect">
            <a:avLst/>
          </a:prstGeom>
          <a:noFill/>
          <a:ln/>
        </p:spPr>
        <p:txBody>
          <a:bodyPr wrap="square" rtlCol="0" anchor="ctr"/>
          <a:lstStyle/>
          <a:p>
            <a:pPr indent="0" marL="0">
              <a:buNone/>
            </a:pPr>
            <a:r>
              <a:rPr lang="en-US" sz="1400" b="1" dirty="0">
                <a:solidFill>
                  <a:srgbClr val="58A6FF"/>
                </a:solidFill>
                <a:latin typeface="Segoe UI Semibold" pitchFamily="34" charset="0"/>
                <a:ea typeface="Segoe UI Semibold" pitchFamily="34" charset="-122"/>
                <a:cs typeface="Segoe UI Semibold" pitchFamily="34" charset="-120"/>
              </a:rPr>
              <a:t>→ ~$134K</a:t>
            </a:r>
            <a:endParaRPr lang="en-US" sz="1400" dirty="0"/>
          </a:p>
        </p:txBody>
      </p:sp>
      <p:sp>
        <p:nvSpPr>
          <p:cNvPr id="47" name="Text 45"/>
          <p:cNvSpPr/>
          <p:nvPr/>
        </p:nvSpPr>
        <p:spPr>
          <a:xfrm>
            <a:off x="6300216" y="4233672"/>
            <a:ext cx="2423160" cy="32004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Average upper bound of posted salary ranges</a:t>
            </a:r>
            <a:endParaRPr lang="en-US" sz="900" dirty="0"/>
          </a:p>
        </p:txBody>
      </p:sp>
      <p:sp>
        <p:nvSpPr>
          <p:cNvPr id="48" name="Shape 46"/>
          <p:cNvSpPr/>
          <p:nvPr/>
        </p:nvSpPr>
        <p:spPr>
          <a:xfrm>
            <a:off x="0" y="4983480"/>
            <a:ext cx="9144000" cy="155448"/>
          </a:xfrm>
          <a:prstGeom prst="rect">
            <a:avLst/>
          </a:prstGeom>
          <a:solidFill>
            <a:srgbClr val="21262D"/>
          </a:solidFill>
          <a:ln/>
        </p:spPr>
      </p:sp>
      <p:sp>
        <p:nvSpPr>
          <p:cNvPr id="49" name="Text 47"/>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8A6FF"/>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08</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58A6FF"/>
                </a:solidFill>
                <a:latin typeface="Segoe UI Semibold" pitchFamily="34" charset="0"/>
                <a:ea typeface="Segoe UI Semibold" pitchFamily="34" charset="-122"/>
                <a:cs typeface="Segoe UI Semibold" pitchFamily="34" charset="-120"/>
              </a:rPr>
              <a:t>DASHBOARD OVERVIEW</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Interactive Power BI Dashboard</a:t>
            </a:r>
            <a:endParaRPr lang="en-US" sz="2600" dirty="0"/>
          </a:p>
        </p:txBody>
      </p:sp>
      <p:sp>
        <p:nvSpPr>
          <p:cNvPr id="6" name="Shape 4"/>
          <p:cNvSpPr/>
          <p:nvPr/>
        </p:nvSpPr>
        <p:spPr>
          <a:xfrm>
            <a:off x="365760" y="1170432"/>
            <a:ext cx="5212080" cy="3154680"/>
          </a:xfrm>
          <a:prstGeom prst="rect">
            <a:avLst/>
          </a:prstGeom>
          <a:solidFill>
            <a:srgbClr val="1C2333"/>
          </a:solidFill>
          <a:ln/>
        </p:spPr>
      </p:sp>
      <p:pic>
        <p:nvPicPr>
          <p:cNvPr id="7" name="Image 0" descr="preencoded.png">    </p:cNvPr>
          <p:cNvPicPr>
            <a:picLocks noChangeAspect="1"/>
          </p:cNvPicPr>
          <p:nvPr/>
        </p:nvPicPr>
        <p:blipFill>
          <a:blip r:embed="rId1"/>
          <a:stretch>
            <a:fillRect/>
          </a:stretch>
        </p:blipFill>
        <p:spPr>
          <a:xfrm>
            <a:off x="411480" y="1216152"/>
            <a:ext cx="5120640" cy="3063240"/>
          </a:xfrm>
          <a:prstGeom prst="rect">
            <a:avLst/>
          </a:prstGeom>
        </p:spPr>
      </p:pic>
      <p:sp>
        <p:nvSpPr>
          <p:cNvPr id="8" name="Text 5"/>
          <p:cNvSpPr/>
          <p:nvPr/>
        </p:nvSpPr>
        <p:spPr>
          <a:xfrm>
            <a:off x="365760" y="4297680"/>
            <a:ext cx="5212080" cy="228600"/>
          </a:xfrm>
          <a:prstGeom prst="rect">
            <a:avLst/>
          </a:prstGeom>
          <a:noFill/>
          <a:ln/>
        </p:spPr>
        <p:txBody>
          <a:bodyPr wrap="square" rtlCol="0" anchor="ctr"/>
          <a:lstStyle/>
          <a:p>
            <a:pPr algn="ctr" indent="0" marL="0">
              <a:buNone/>
            </a:pPr>
            <a:r>
              <a:rPr lang="en-US" sz="900" i="1" dirty="0">
                <a:solidFill>
                  <a:srgbClr val="8B949E"/>
                </a:solidFill>
                <a:latin typeface="Segoe UI" pitchFamily="34" charset="0"/>
                <a:ea typeface="Segoe UI" pitchFamily="34" charset="-122"/>
                <a:cs typeface="Segoe UI" pitchFamily="34" charset="-120"/>
              </a:rPr>
              <a:t>Page 1 — Salary &amp; Job Distribution</a:t>
            </a:r>
            <a:endParaRPr lang="en-US" sz="900" dirty="0"/>
          </a:p>
        </p:txBody>
      </p:sp>
      <p:sp>
        <p:nvSpPr>
          <p:cNvPr id="9" name="Shape 6"/>
          <p:cNvSpPr/>
          <p:nvPr/>
        </p:nvSpPr>
        <p:spPr>
          <a:xfrm>
            <a:off x="5669280" y="1170432"/>
            <a:ext cx="3108960" cy="1874520"/>
          </a:xfrm>
          <a:prstGeom prst="rect">
            <a:avLst/>
          </a:prstGeom>
          <a:solidFill>
            <a:srgbClr val="1C2333"/>
          </a:solidFill>
          <a:ln/>
        </p:spPr>
      </p:sp>
      <p:pic>
        <p:nvPicPr>
          <p:cNvPr id="10" name="Image 1" descr="preencoded.png">    </p:cNvPr>
          <p:cNvPicPr>
            <a:picLocks noChangeAspect="1"/>
          </p:cNvPicPr>
          <p:nvPr/>
        </p:nvPicPr>
        <p:blipFill>
          <a:blip r:embed="rId2"/>
          <a:stretch>
            <a:fillRect/>
          </a:stretch>
        </p:blipFill>
        <p:spPr>
          <a:xfrm>
            <a:off x="5715000" y="1216152"/>
            <a:ext cx="3017520" cy="1783080"/>
          </a:xfrm>
          <a:prstGeom prst="rect">
            <a:avLst/>
          </a:prstGeom>
        </p:spPr>
      </p:pic>
      <p:sp>
        <p:nvSpPr>
          <p:cNvPr id="11" name="Text 7"/>
          <p:cNvSpPr/>
          <p:nvPr/>
        </p:nvSpPr>
        <p:spPr>
          <a:xfrm>
            <a:off x="5669280" y="3063240"/>
            <a:ext cx="3108960" cy="228600"/>
          </a:xfrm>
          <a:prstGeom prst="rect">
            <a:avLst/>
          </a:prstGeom>
          <a:noFill/>
          <a:ln/>
        </p:spPr>
        <p:txBody>
          <a:bodyPr wrap="square" rtlCol="0" anchor="ctr"/>
          <a:lstStyle/>
          <a:p>
            <a:pPr algn="ctr" indent="0" marL="0">
              <a:buNone/>
            </a:pPr>
            <a:r>
              <a:rPr lang="en-US" sz="900" i="1" dirty="0">
                <a:solidFill>
                  <a:srgbClr val="8B949E"/>
                </a:solidFill>
                <a:latin typeface="Segoe UI" pitchFamily="34" charset="0"/>
                <a:ea typeface="Segoe UI" pitchFamily="34" charset="-122"/>
                <a:cs typeface="Segoe UI" pitchFamily="34" charset="-120"/>
              </a:rPr>
              <a:t>Page 2 — Skills &amp; Education</a:t>
            </a:r>
            <a:endParaRPr lang="en-US" sz="900" dirty="0"/>
          </a:p>
        </p:txBody>
      </p:sp>
      <p:sp>
        <p:nvSpPr>
          <p:cNvPr id="12" name="Shape 8"/>
          <p:cNvSpPr/>
          <p:nvPr/>
        </p:nvSpPr>
        <p:spPr>
          <a:xfrm>
            <a:off x="5669280" y="3429000"/>
            <a:ext cx="987552" cy="256032"/>
          </a:xfrm>
          <a:prstGeom prst="rect">
            <a:avLst/>
          </a:prstGeom>
          <a:solidFill>
            <a:srgbClr val="1C2333"/>
          </a:solidFill>
          <a:ln/>
        </p:spPr>
      </p:sp>
      <p:sp>
        <p:nvSpPr>
          <p:cNvPr id="13" name="Text 9"/>
          <p:cNvSpPr/>
          <p:nvPr/>
        </p:nvSpPr>
        <p:spPr>
          <a:xfrm>
            <a:off x="5669280" y="342900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KPI Cards</a:t>
            </a:r>
            <a:endParaRPr lang="en-US" sz="800" dirty="0"/>
          </a:p>
        </p:txBody>
      </p:sp>
      <p:sp>
        <p:nvSpPr>
          <p:cNvPr id="14" name="Shape 10"/>
          <p:cNvSpPr/>
          <p:nvPr/>
        </p:nvSpPr>
        <p:spPr>
          <a:xfrm>
            <a:off x="6720840" y="3429000"/>
            <a:ext cx="987552" cy="256032"/>
          </a:xfrm>
          <a:prstGeom prst="rect">
            <a:avLst/>
          </a:prstGeom>
          <a:solidFill>
            <a:srgbClr val="1C2333"/>
          </a:solidFill>
          <a:ln/>
        </p:spPr>
      </p:sp>
      <p:sp>
        <p:nvSpPr>
          <p:cNvPr id="15" name="Text 11"/>
          <p:cNvSpPr/>
          <p:nvPr/>
        </p:nvSpPr>
        <p:spPr>
          <a:xfrm>
            <a:off x="6720840" y="342900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Bar Charts</a:t>
            </a:r>
            <a:endParaRPr lang="en-US" sz="800" dirty="0"/>
          </a:p>
        </p:txBody>
      </p:sp>
      <p:sp>
        <p:nvSpPr>
          <p:cNvPr id="16" name="Shape 12"/>
          <p:cNvSpPr/>
          <p:nvPr/>
        </p:nvSpPr>
        <p:spPr>
          <a:xfrm>
            <a:off x="7772400" y="3429000"/>
            <a:ext cx="987552" cy="256032"/>
          </a:xfrm>
          <a:prstGeom prst="rect">
            <a:avLst/>
          </a:prstGeom>
          <a:solidFill>
            <a:srgbClr val="1C2333"/>
          </a:solidFill>
          <a:ln/>
        </p:spPr>
      </p:sp>
      <p:sp>
        <p:nvSpPr>
          <p:cNvPr id="17" name="Text 13"/>
          <p:cNvSpPr/>
          <p:nvPr/>
        </p:nvSpPr>
        <p:spPr>
          <a:xfrm>
            <a:off x="7772400" y="342900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Pie Charts</a:t>
            </a:r>
            <a:endParaRPr lang="en-US" sz="800" dirty="0"/>
          </a:p>
        </p:txBody>
      </p:sp>
      <p:sp>
        <p:nvSpPr>
          <p:cNvPr id="18" name="Shape 14"/>
          <p:cNvSpPr/>
          <p:nvPr/>
        </p:nvSpPr>
        <p:spPr>
          <a:xfrm>
            <a:off x="5669280" y="3794760"/>
            <a:ext cx="987552" cy="256032"/>
          </a:xfrm>
          <a:prstGeom prst="rect">
            <a:avLst/>
          </a:prstGeom>
          <a:solidFill>
            <a:srgbClr val="1C2333"/>
          </a:solidFill>
          <a:ln/>
        </p:spPr>
      </p:sp>
      <p:sp>
        <p:nvSpPr>
          <p:cNvPr id="19" name="Text 15"/>
          <p:cNvSpPr/>
          <p:nvPr/>
        </p:nvSpPr>
        <p:spPr>
          <a:xfrm>
            <a:off x="5669280" y="379476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Map Visual</a:t>
            </a:r>
            <a:endParaRPr lang="en-US" sz="800" dirty="0"/>
          </a:p>
        </p:txBody>
      </p:sp>
      <p:sp>
        <p:nvSpPr>
          <p:cNvPr id="20" name="Shape 16"/>
          <p:cNvSpPr/>
          <p:nvPr/>
        </p:nvSpPr>
        <p:spPr>
          <a:xfrm>
            <a:off x="6720840" y="3794760"/>
            <a:ext cx="987552" cy="256032"/>
          </a:xfrm>
          <a:prstGeom prst="rect">
            <a:avLst/>
          </a:prstGeom>
          <a:solidFill>
            <a:srgbClr val="1C2333"/>
          </a:solidFill>
          <a:ln/>
        </p:spPr>
      </p:sp>
      <p:sp>
        <p:nvSpPr>
          <p:cNvPr id="21" name="Text 17"/>
          <p:cNvSpPr/>
          <p:nvPr/>
        </p:nvSpPr>
        <p:spPr>
          <a:xfrm>
            <a:off x="6720840" y="379476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Treemap</a:t>
            </a:r>
            <a:endParaRPr lang="en-US" sz="800" dirty="0"/>
          </a:p>
        </p:txBody>
      </p:sp>
      <p:sp>
        <p:nvSpPr>
          <p:cNvPr id="22" name="Shape 18"/>
          <p:cNvSpPr/>
          <p:nvPr/>
        </p:nvSpPr>
        <p:spPr>
          <a:xfrm>
            <a:off x="7772400" y="3794760"/>
            <a:ext cx="987552" cy="256032"/>
          </a:xfrm>
          <a:prstGeom prst="rect">
            <a:avLst/>
          </a:prstGeom>
          <a:solidFill>
            <a:srgbClr val="1C2333"/>
          </a:solidFill>
          <a:ln/>
        </p:spPr>
      </p:sp>
      <p:sp>
        <p:nvSpPr>
          <p:cNvPr id="23" name="Text 19"/>
          <p:cNvSpPr/>
          <p:nvPr/>
        </p:nvSpPr>
        <p:spPr>
          <a:xfrm>
            <a:off x="7772400" y="379476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Matrix Table</a:t>
            </a:r>
            <a:endParaRPr lang="en-US" sz="800" dirty="0"/>
          </a:p>
        </p:txBody>
      </p:sp>
      <p:sp>
        <p:nvSpPr>
          <p:cNvPr id="24" name="Shape 20"/>
          <p:cNvSpPr/>
          <p:nvPr/>
        </p:nvSpPr>
        <p:spPr>
          <a:xfrm>
            <a:off x="5669280" y="4160520"/>
            <a:ext cx="987552" cy="256032"/>
          </a:xfrm>
          <a:prstGeom prst="rect">
            <a:avLst/>
          </a:prstGeom>
          <a:solidFill>
            <a:srgbClr val="1C2333"/>
          </a:solidFill>
          <a:ln/>
        </p:spPr>
      </p:sp>
      <p:sp>
        <p:nvSpPr>
          <p:cNvPr id="25" name="Text 21"/>
          <p:cNvSpPr/>
          <p:nvPr/>
        </p:nvSpPr>
        <p:spPr>
          <a:xfrm>
            <a:off x="5669280" y="4160520"/>
            <a:ext cx="987552" cy="256032"/>
          </a:xfrm>
          <a:prstGeom prst="rect">
            <a:avLst/>
          </a:prstGeom>
          <a:noFill/>
          <a:ln/>
        </p:spPr>
        <p:txBody>
          <a:bodyPr wrap="square" rtlCol="0" anchor="ctr"/>
          <a:lstStyle/>
          <a:p>
            <a:pPr algn="ctr" indent="0" marL="0">
              <a:buNone/>
            </a:pPr>
            <a:r>
              <a:rPr lang="en-US" sz="800" dirty="0">
                <a:solidFill>
                  <a:srgbClr val="58A6FF"/>
                </a:solidFill>
                <a:latin typeface="Segoe UI" pitchFamily="34" charset="0"/>
                <a:ea typeface="Segoe UI" pitchFamily="34" charset="-122"/>
                <a:cs typeface="Segoe UI" pitchFamily="34" charset="-120"/>
              </a:rPr>
              <a:t>Slicers</a:t>
            </a:r>
            <a:endParaRPr lang="en-US" sz="800" dirty="0"/>
          </a:p>
        </p:txBody>
      </p:sp>
      <p:sp>
        <p:nvSpPr>
          <p:cNvPr id="26" name="Shape 22"/>
          <p:cNvSpPr/>
          <p:nvPr/>
        </p:nvSpPr>
        <p:spPr>
          <a:xfrm>
            <a:off x="0" y="4983480"/>
            <a:ext cx="9144000" cy="155448"/>
          </a:xfrm>
          <a:prstGeom prst="rect">
            <a:avLst/>
          </a:prstGeom>
          <a:solidFill>
            <a:srgbClr val="21262D"/>
          </a:solidFill>
          <a:ln/>
        </p:spPr>
      </p:sp>
      <p:sp>
        <p:nvSpPr>
          <p:cNvPr id="27" name="Text 23"/>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8A6FF"/>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09</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58A6FF"/>
                </a:solidFill>
                <a:latin typeface="Segoe UI Semibold" pitchFamily="34" charset="0"/>
                <a:ea typeface="Segoe UI Semibold" pitchFamily="34" charset="-122"/>
                <a:cs typeface="Segoe UI Semibold" pitchFamily="34" charset="-120"/>
              </a:rPr>
              <a:t>GEOGRAPHIC ANALYSIS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States &amp; Salary Distribution</a:t>
            </a:r>
            <a:endParaRPr lang="en-US" sz="2600" dirty="0"/>
          </a:p>
        </p:txBody>
      </p:sp>
      <p:graphicFrame>
        <p:nvGraphicFramePr>
          <p:cNvPr id="6" name="Chart 0" descr=""/>
          <p:cNvGraphicFramePr/>
          <p:nvPr/>
        </p:nvGraphicFramePr>
        <p:xfrm>
          <a:off x="457200" y="1170432"/>
          <a:ext cx="50292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5486400" y="1170432"/>
          <a:ext cx="3474720" cy="31089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57200" y="4370832"/>
            <a:ext cx="8229600" cy="502920"/>
          </a:xfrm>
          <a:prstGeom prst="rect">
            <a:avLst/>
          </a:prstGeom>
          <a:solidFill>
            <a:srgbClr val="21262D"/>
          </a:solidFill>
          <a:ln/>
        </p:spPr>
      </p:sp>
      <p:sp>
        <p:nvSpPr>
          <p:cNvPr id="9" name="Shape 5"/>
          <p:cNvSpPr/>
          <p:nvPr/>
        </p:nvSpPr>
        <p:spPr>
          <a:xfrm>
            <a:off x="457200" y="4370832"/>
            <a:ext cx="64008" cy="502920"/>
          </a:xfrm>
          <a:prstGeom prst="rect">
            <a:avLst/>
          </a:prstGeom>
          <a:solidFill>
            <a:srgbClr val="58A6FF"/>
          </a:solidFill>
          <a:ln/>
        </p:spPr>
      </p:sp>
      <p:sp>
        <p:nvSpPr>
          <p:cNvPr id="10" name="Text 6"/>
          <p:cNvSpPr/>
          <p:nvPr/>
        </p:nvSpPr>
        <p:spPr>
          <a:xfrm>
            <a:off x="685800" y="4443984"/>
            <a:ext cx="7863840" cy="347472"/>
          </a:xfrm>
          <a:prstGeom prst="rect">
            <a:avLst/>
          </a:prstGeom>
          <a:noFill/>
          <a:ln/>
        </p:spPr>
        <p:txBody>
          <a:bodyPr wrap="square" rtlCol="0" anchor="ctr"/>
          <a:lstStyle/>
          <a:p>
            <a:pPr indent="0" marL="0">
              <a:buNone/>
            </a:pPr>
            <a:r>
              <a:rPr lang="en-US" sz="1000" dirty="0">
                <a:solidFill>
                  <a:srgbClr val="C9D1D9"/>
                </a:solidFill>
                <a:latin typeface="Segoe UI" pitchFamily="34" charset="0"/>
                <a:ea typeface="Segoe UI" pitchFamily="34" charset="-122"/>
                <a:cs typeface="Segoe UI" pitchFamily="34" charset="-120"/>
              </a:rPr>
              <a:t>★  California dominates both in job volume (98 postings) and salary ceiling ($157K avg max) — making it the #1 state for data science careers.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9D0D8"/>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10</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39D0D8"/>
                </a:solidFill>
                <a:latin typeface="Segoe UI Semibold" pitchFamily="34" charset="0"/>
                <a:ea typeface="Segoe UI Semibold" pitchFamily="34" charset="-122"/>
                <a:cs typeface="Segoe UI Semibold" pitchFamily="34" charset="-120"/>
              </a:rPr>
              <a:t>INDUSTRY &amp; COMPANY</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Who Is Hiring?</a:t>
            </a:r>
            <a:endParaRPr lang="en-US" sz="2600" dirty="0"/>
          </a:p>
        </p:txBody>
      </p:sp>
      <p:graphicFrame>
        <p:nvGraphicFramePr>
          <p:cNvPr id="6" name="Chart 0" descr=""/>
          <p:cNvGraphicFramePr/>
          <p:nvPr/>
        </p:nvGraphicFramePr>
        <p:xfrm>
          <a:off x="365760" y="1170432"/>
          <a:ext cx="457200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120640" y="1170432"/>
            <a:ext cx="3749040" cy="292608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8" name="Text 5"/>
          <p:cNvSpPr/>
          <p:nvPr/>
        </p:nvSpPr>
        <p:spPr>
          <a:xfrm>
            <a:off x="5257800" y="1261872"/>
            <a:ext cx="3474720" cy="320040"/>
          </a:xfrm>
          <a:prstGeom prst="rect">
            <a:avLst/>
          </a:prstGeom>
          <a:noFill/>
          <a:ln/>
        </p:spPr>
        <p:txBody>
          <a:bodyPr wrap="square" rtlCol="0" anchor="ctr"/>
          <a:lstStyle/>
          <a:p>
            <a:pPr indent="0" marL="0">
              <a:buNone/>
            </a:pPr>
            <a:r>
              <a:rPr lang="en-US" sz="1200" b="1" dirty="0">
                <a:solidFill>
                  <a:srgbClr val="FFFFFF"/>
                </a:solidFill>
                <a:latin typeface="Segoe UI Semibold" pitchFamily="34" charset="0"/>
                <a:ea typeface="Segoe UI Semibold" pitchFamily="34" charset="-122"/>
                <a:cs typeface="Segoe UI Semibold" pitchFamily="34" charset="-120"/>
              </a:rPr>
              <a:t>Top Companies by Job Openings</a:t>
            </a:r>
            <a:endParaRPr lang="en-US" sz="1200" dirty="0"/>
          </a:p>
        </p:txBody>
      </p:sp>
      <p:sp>
        <p:nvSpPr>
          <p:cNvPr id="9" name="Text 6"/>
          <p:cNvSpPr/>
          <p:nvPr/>
        </p:nvSpPr>
        <p:spPr>
          <a:xfrm>
            <a:off x="5257800" y="1691640"/>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MassMutual</a:t>
            </a:r>
            <a:endParaRPr lang="en-US" sz="900" dirty="0"/>
          </a:p>
        </p:txBody>
      </p:sp>
      <p:sp>
        <p:nvSpPr>
          <p:cNvPr id="10" name="Shape 7"/>
          <p:cNvSpPr/>
          <p:nvPr/>
        </p:nvSpPr>
        <p:spPr>
          <a:xfrm>
            <a:off x="7132320" y="1737360"/>
            <a:ext cx="1755648" cy="155448"/>
          </a:xfrm>
          <a:prstGeom prst="rect">
            <a:avLst/>
          </a:prstGeom>
          <a:solidFill>
            <a:srgbClr val="58A6FF">
              <a:alpha val="70000"/>
            </a:srgbClr>
          </a:solidFill>
          <a:ln/>
        </p:spPr>
      </p:sp>
      <p:sp>
        <p:nvSpPr>
          <p:cNvPr id="11" name="Text 8"/>
          <p:cNvSpPr/>
          <p:nvPr/>
        </p:nvSpPr>
        <p:spPr>
          <a:xfrm>
            <a:off x="8933688" y="1709928"/>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8</a:t>
            </a:r>
            <a:endParaRPr lang="en-US" sz="900" dirty="0"/>
          </a:p>
        </p:txBody>
      </p:sp>
      <p:sp>
        <p:nvSpPr>
          <p:cNvPr id="12" name="Text 9"/>
          <p:cNvSpPr/>
          <p:nvPr/>
        </p:nvSpPr>
        <p:spPr>
          <a:xfrm>
            <a:off x="5257800" y="1993392"/>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Takeda Pharmaceuticals</a:t>
            </a:r>
            <a:endParaRPr lang="en-US" sz="900" dirty="0"/>
          </a:p>
        </p:txBody>
      </p:sp>
      <p:sp>
        <p:nvSpPr>
          <p:cNvPr id="13" name="Shape 10"/>
          <p:cNvSpPr/>
          <p:nvPr/>
        </p:nvSpPr>
        <p:spPr>
          <a:xfrm>
            <a:off x="7132320" y="2039112"/>
            <a:ext cx="1536192" cy="155448"/>
          </a:xfrm>
          <a:prstGeom prst="rect">
            <a:avLst/>
          </a:prstGeom>
          <a:solidFill>
            <a:srgbClr val="39D0D8">
              <a:alpha val="70000"/>
            </a:srgbClr>
          </a:solidFill>
          <a:ln/>
        </p:spPr>
      </p:sp>
      <p:sp>
        <p:nvSpPr>
          <p:cNvPr id="14" name="Text 11"/>
          <p:cNvSpPr/>
          <p:nvPr/>
        </p:nvSpPr>
        <p:spPr>
          <a:xfrm>
            <a:off x="8714232" y="2011680"/>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7</a:t>
            </a:r>
            <a:endParaRPr lang="en-US" sz="900" dirty="0"/>
          </a:p>
        </p:txBody>
      </p:sp>
      <p:sp>
        <p:nvSpPr>
          <p:cNvPr id="15" name="Text 12"/>
          <p:cNvSpPr/>
          <p:nvPr/>
        </p:nvSpPr>
        <p:spPr>
          <a:xfrm>
            <a:off x="5257800" y="2295144"/>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PNNL</a:t>
            </a:r>
            <a:endParaRPr lang="en-US" sz="900" dirty="0"/>
          </a:p>
        </p:txBody>
      </p:sp>
      <p:sp>
        <p:nvSpPr>
          <p:cNvPr id="16" name="Shape 13"/>
          <p:cNvSpPr/>
          <p:nvPr/>
        </p:nvSpPr>
        <p:spPr>
          <a:xfrm>
            <a:off x="7132320" y="2340864"/>
            <a:ext cx="1316736" cy="155448"/>
          </a:xfrm>
          <a:prstGeom prst="rect">
            <a:avLst/>
          </a:prstGeom>
          <a:solidFill>
            <a:srgbClr val="3FB950">
              <a:alpha val="70000"/>
            </a:srgbClr>
          </a:solidFill>
          <a:ln/>
        </p:spPr>
      </p:sp>
      <p:sp>
        <p:nvSpPr>
          <p:cNvPr id="17" name="Text 14"/>
          <p:cNvSpPr/>
          <p:nvPr/>
        </p:nvSpPr>
        <p:spPr>
          <a:xfrm>
            <a:off x="8494776" y="2313432"/>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6</a:t>
            </a:r>
            <a:endParaRPr lang="en-US" sz="900" dirty="0"/>
          </a:p>
        </p:txBody>
      </p:sp>
      <p:sp>
        <p:nvSpPr>
          <p:cNvPr id="18" name="Text 15"/>
          <p:cNvSpPr/>
          <p:nvPr/>
        </p:nvSpPr>
        <p:spPr>
          <a:xfrm>
            <a:off x="5257800" y="2596896"/>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Reynolds American</a:t>
            </a:r>
            <a:endParaRPr lang="en-US" sz="900" dirty="0"/>
          </a:p>
        </p:txBody>
      </p:sp>
      <p:sp>
        <p:nvSpPr>
          <p:cNvPr id="19" name="Shape 16"/>
          <p:cNvSpPr/>
          <p:nvPr/>
        </p:nvSpPr>
        <p:spPr>
          <a:xfrm>
            <a:off x="7132320" y="2642616"/>
            <a:ext cx="1316736" cy="155448"/>
          </a:xfrm>
          <a:prstGeom prst="rect">
            <a:avLst/>
          </a:prstGeom>
          <a:solidFill>
            <a:srgbClr val="F78166">
              <a:alpha val="70000"/>
            </a:srgbClr>
          </a:solidFill>
          <a:ln/>
        </p:spPr>
      </p:sp>
      <p:sp>
        <p:nvSpPr>
          <p:cNvPr id="20" name="Text 17"/>
          <p:cNvSpPr/>
          <p:nvPr/>
        </p:nvSpPr>
        <p:spPr>
          <a:xfrm>
            <a:off x="8494776" y="2615184"/>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6</a:t>
            </a:r>
            <a:endParaRPr lang="en-US" sz="900" dirty="0"/>
          </a:p>
        </p:txBody>
      </p:sp>
      <p:sp>
        <p:nvSpPr>
          <p:cNvPr id="21" name="Text 18"/>
          <p:cNvSpPr/>
          <p:nvPr/>
        </p:nvSpPr>
        <p:spPr>
          <a:xfrm>
            <a:off x="5257800" y="2898648"/>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AstraZeneca</a:t>
            </a:r>
            <a:endParaRPr lang="en-US" sz="900" dirty="0"/>
          </a:p>
        </p:txBody>
      </p:sp>
      <p:sp>
        <p:nvSpPr>
          <p:cNvPr id="22" name="Shape 19"/>
          <p:cNvSpPr/>
          <p:nvPr/>
        </p:nvSpPr>
        <p:spPr>
          <a:xfrm>
            <a:off x="7132320" y="2944368"/>
            <a:ext cx="1097280" cy="155448"/>
          </a:xfrm>
          <a:prstGeom prst="rect">
            <a:avLst/>
          </a:prstGeom>
          <a:solidFill>
            <a:srgbClr val="A371F7">
              <a:alpha val="70000"/>
            </a:srgbClr>
          </a:solidFill>
          <a:ln/>
        </p:spPr>
      </p:sp>
      <p:sp>
        <p:nvSpPr>
          <p:cNvPr id="23" name="Text 20"/>
          <p:cNvSpPr/>
          <p:nvPr/>
        </p:nvSpPr>
        <p:spPr>
          <a:xfrm>
            <a:off x="8275320" y="2916936"/>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5</a:t>
            </a:r>
            <a:endParaRPr lang="en-US" sz="900" dirty="0"/>
          </a:p>
        </p:txBody>
      </p:sp>
      <p:sp>
        <p:nvSpPr>
          <p:cNvPr id="24" name="Text 21"/>
          <p:cNvSpPr/>
          <p:nvPr/>
        </p:nvSpPr>
        <p:spPr>
          <a:xfrm>
            <a:off x="5257800" y="3200400"/>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Liberty Mutual</a:t>
            </a:r>
            <a:endParaRPr lang="en-US" sz="900" dirty="0"/>
          </a:p>
        </p:txBody>
      </p:sp>
      <p:sp>
        <p:nvSpPr>
          <p:cNvPr id="25" name="Shape 22"/>
          <p:cNvSpPr/>
          <p:nvPr/>
        </p:nvSpPr>
        <p:spPr>
          <a:xfrm>
            <a:off x="7132320" y="3246120"/>
            <a:ext cx="1097280" cy="155448"/>
          </a:xfrm>
          <a:prstGeom prst="rect">
            <a:avLst/>
          </a:prstGeom>
          <a:solidFill>
            <a:srgbClr val="58A6FF">
              <a:alpha val="70000"/>
            </a:srgbClr>
          </a:solidFill>
          <a:ln/>
        </p:spPr>
      </p:sp>
      <p:sp>
        <p:nvSpPr>
          <p:cNvPr id="26" name="Text 23"/>
          <p:cNvSpPr/>
          <p:nvPr/>
        </p:nvSpPr>
        <p:spPr>
          <a:xfrm>
            <a:off x="8275320" y="3218688"/>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5</a:t>
            </a:r>
            <a:endParaRPr lang="en-US" sz="900" dirty="0"/>
          </a:p>
        </p:txBody>
      </p:sp>
      <p:sp>
        <p:nvSpPr>
          <p:cNvPr id="27" name="Text 24"/>
          <p:cNvSpPr/>
          <p:nvPr/>
        </p:nvSpPr>
        <p:spPr>
          <a:xfrm>
            <a:off x="5257800" y="3502152"/>
            <a:ext cx="1828800" cy="256032"/>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MITRE</a:t>
            </a:r>
            <a:endParaRPr lang="en-US" sz="900" dirty="0"/>
          </a:p>
        </p:txBody>
      </p:sp>
      <p:sp>
        <p:nvSpPr>
          <p:cNvPr id="28" name="Shape 25"/>
          <p:cNvSpPr/>
          <p:nvPr/>
        </p:nvSpPr>
        <p:spPr>
          <a:xfrm>
            <a:off x="7132320" y="3547872"/>
            <a:ext cx="1097280" cy="155448"/>
          </a:xfrm>
          <a:prstGeom prst="rect">
            <a:avLst/>
          </a:prstGeom>
          <a:solidFill>
            <a:srgbClr val="39D0D8">
              <a:alpha val="70000"/>
            </a:srgbClr>
          </a:solidFill>
          <a:ln/>
        </p:spPr>
      </p:sp>
      <p:sp>
        <p:nvSpPr>
          <p:cNvPr id="29" name="Text 26"/>
          <p:cNvSpPr/>
          <p:nvPr/>
        </p:nvSpPr>
        <p:spPr>
          <a:xfrm>
            <a:off x="8275320" y="3520440"/>
            <a:ext cx="274320" cy="201168"/>
          </a:xfrm>
          <a:prstGeom prst="rect">
            <a:avLst/>
          </a:prstGeom>
          <a:noFill/>
          <a:ln/>
        </p:spPr>
        <p:txBody>
          <a:bodyPr wrap="square" rtlCol="0" anchor="ctr"/>
          <a:lstStyle/>
          <a:p>
            <a:pPr indent="0" marL="0">
              <a:buNone/>
            </a:pPr>
            <a:r>
              <a:rPr lang="en-US" sz="900" dirty="0">
                <a:solidFill>
                  <a:srgbClr val="C9D1D9"/>
                </a:solidFill>
                <a:latin typeface="Segoe UI" pitchFamily="34" charset="0"/>
                <a:ea typeface="Segoe UI" pitchFamily="34" charset="-122"/>
                <a:cs typeface="Segoe UI" pitchFamily="34" charset="-120"/>
              </a:rPr>
              <a:t>5</a:t>
            </a:r>
            <a:endParaRPr lang="en-US" sz="900" dirty="0"/>
          </a:p>
        </p:txBody>
      </p:sp>
      <p:sp>
        <p:nvSpPr>
          <p:cNvPr id="30" name="Shape 27"/>
          <p:cNvSpPr/>
          <p:nvPr/>
        </p:nvSpPr>
        <p:spPr>
          <a:xfrm>
            <a:off x="365760" y="4206240"/>
            <a:ext cx="8458200" cy="502920"/>
          </a:xfrm>
          <a:prstGeom prst="rect">
            <a:avLst/>
          </a:prstGeom>
          <a:solidFill>
            <a:srgbClr val="21262D"/>
          </a:solidFill>
          <a:ln/>
        </p:spPr>
      </p:sp>
      <p:sp>
        <p:nvSpPr>
          <p:cNvPr id="31" name="Shape 28"/>
          <p:cNvSpPr/>
          <p:nvPr/>
        </p:nvSpPr>
        <p:spPr>
          <a:xfrm>
            <a:off x="365760" y="4206240"/>
            <a:ext cx="64008" cy="502920"/>
          </a:xfrm>
          <a:prstGeom prst="rect">
            <a:avLst/>
          </a:prstGeom>
          <a:solidFill>
            <a:srgbClr val="39D0D8"/>
          </a:solidFill>
          <a:ln/>
        </p:spPr>
      </p:sp>
      <p:sp>
        <p:nvSpPr>
          <p:cNvPr id="32" name="Text 29"/>
          <p:cNvSpPr/>
          <p:nvPr/>
        </p:nvSpPr>
        <p:spPr>
          <a:xfrm>
            <a:off x="594360" y="4279392"/>
            <a:ext cx="8138160" cy="347472"/>
          </a:xfrm>
          <a:prstGeom prst="rect">
            <a:avLst/>
          </a:prstGeom>
          <a:noFill/>
          <a:ln/>
        </p:spPr>
        <p:txBody>
          <a:bodyPr wrap="square" rtlCol="0" anchor="ctr"/>
          <a:lstStyle/>
          <a:p>
            <a:pPr indent="0" marL="0">
              <a:buNone/>
            </a:pPr>
            <a:r>
              <a:rPr lang="en-US" sz="1000" dirty="0">
                <a:solidFill>
                  <a:srgbClr val="C9D1D9"/>
                </a:solidFill>
                <a:latin typeface="Segoe UI" pitchFamily="34" charset="0"/>
                <a:ea typeface="Segoe UI" pitchFamily="34" charset="-122"/>
                <a:cs typeface="Segoe UI" pitchFamily="34" charset="-120"/>
              </a:rPr>
              <a:t>★  Biotech &amp; Pharma leads with 24 postings, followed closely by Enterprise Software. Healthcare and tech sectors are the biggest recruiters of data talent.</a:t>
            </a:r>
            <a:endParaRPr lang="en-US" sz="1000" dirty="0"/>
          </a:p>
        </p:txBody>
      </p:sp>
      <p:sp>
        <p:nvSpPr>
          <p:cNvPr id="33" name="Shape 30"/>
          <p:cNvSpPr/>
          <p:nvPr/>
        </p:nvSpPr>
        <p:spPr>
          <a:xfrm>
            <a:off x="0" y="4983480"/>
            <a:ext cx="9144000" cy="155448"/>
          </a:xfrm>
          <a:prstGeom prst="rect">
            <a:avLst/>
          </a:prstGeom>
          <a:solidFill>
            <a:srgbClr val="21262D"/>
          </a:solidFill>
          <a:ln/>
        </p:spPr>
      </p:sp>
      <p:sp>
        <p:nvSpPr>
          <p:cNvPr id="34" name="Text 31"/>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FB950"/>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11</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3FB950"/>
                </a:solidFill>
                <a:latin typeface="Segoe UI Semibold" pitchFamily="34" charset="0"/>
                <a:ea typeface="Segoe UI Semibold" pitchFamily="34" charset="-122"/>
                <a:cs typeface="Segoe UI Semibold" pitchFamily="34" charset="-120"/>
              </a:rPr>
              <a:t>SKILLS &amp; ROLES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What Employers Are Looking For</a:t>
            </a:r>
            <a:endParaRPr lang="en-US" sz="2600" dirty="0"/>
          </a:p>
        </p:txBody>
      </p:sp>
      <p:graphicFrame>
        <p:nvGraphicFramePr>
          <p:cNvPr id="6" name="Chart 0" descr=""/>
          <p:cNvGraphicFramePr/>
          <p:nvPr/>
        </p:nvGraphicFramePr>
        <p:xfrm>
          <a:off x="365760" y="1170432"/>
          <a:ext cx="502920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5486400" y="1170432"/>
          <a:ext cx="3474720" cy="30632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365760" y="4325112"/>
            <a:ext cx="8458200" cy="502920"/>
          </a:xfrm>
          <a:prstGeom prst="rect">
            <a:avLst/>
          </a:prstGeom>
          <a:solidFill>
            <a:srgbClr val="21262D"/>
          </a:solidFill>
          <a:ln/>
        </p:spPr>
      </p:sp>
      <p:sp>
        <p:nvSpPr>
          <p:cNvPr id="9" name="Shape 5"/>
          <p:cNvSpPr/>
          <p:nvPr/>
        </p:nvSpPr>
        <p:spPr>
          <a:xfrm>
            <a:off x="365760" y="4325112"/>
            <a:ext cx="64008" cy="502920"/>
          </a:xfrm>
          <a:prstGeom prst="rect">
            <a:avLst/>
          </a:prstGeom>
          <a:solidFill>
            <a:srgbClr val="3FB950"/>
          </a:solidFill>
          <a:ln/>
        </p:spPr>
      </p:sp>
      <p:sp>
        <p:nvSpPr>
          <p:cNvPr id="10" name="Text 6"/>
          <p:cNvSpPr/>
          <p:nvPr/>
        </p:nvSpPr>
        <p:spPr>
          <a:xfrm>
            <a:off x="594360" y="4398264"/>
            <a:ext cx="8138160" cy="347472"/>
          </a:xfrm>
          <a:prstGeom prst="rect">
            <a:avLst/>
          </a:prstGeom>
          <a:noFill/>
          <a:ln/>
        </p:spPr>
        <p:txBody>
          <a:bodyPr wrap="square" rtlCol="0" anchor="ctr"/>
          <a:lstStyle/>
          <a:p>
            <a:pPr indent="0" marL="0">
              <a:buNone/>
            </a:pPr>
            <a:r>
              <a:rPr lang="en-US" sz="1000" dirty="0">
                <a:solidFill>
                  <a:srgbClr val="C9D1D9"/>
                </a:solidFill>
                <a:latin typeface="Segoe UI" pitchFamily="34" charset="0"/>
                <a:ea typeface="Segoe UI" pitchFamily="34" charset="-122"/>
                <a:cs typeface="Segoe UI" pitchFamily="34" charset="-120"/>
              </a:rPr>
              <a:t>★  Python (258) and SQL (253) are the most in-demand skills. Directors earn the highest salaries while Data Scientist is the most common listed role.</a:t>
            </a:r>
            <a:endParaRPr lang="en-US" sz="1000" dirty="0"/>
          </a:p>
        </p:txBody>
      </p:sp>
      <p:sp>
        <p:nvSpPr>
          <p:cNvPr id="11" name="Shape 7"/>
          <p:cNvSpPr/>
          <p:nvPr/>
        </p:nvSpPr>
        <p:spPr>
          <a:xfrm>
            <a:off x="0" y="4983480"/>
            <a:ext cx="9144000" cy="155448"/>
          </a:xfrm>
          <a:prstGeom prst="rect">
            <a:avLst/>
          </a:prstGeom>
          <a:solidFill>
            <a:srgbClr val="21262D"/>
          </a:solidFill>
          <a:ln/>
        </p:spPr>
      </p:sp>
      <p:sp>
        <p:nvSpPr>
          <p:cNvPr id="12" name="Text 8"/>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A371F7"/>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12</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A371F7"/>
                </a:solidFill>
                <a:latin typeface="Segoe UI Semibold" pitchFamily="34" charset="0"/>
                <a:ea typeface="Segoe UI Semibold" pitchFamily="34" charset="-122"/>
                <a:cs typeface="Segoe UI Semibold" pitchFamily="34" charset="-120"/>
              </a:rPr>
              <a:t>EDUCATION ANALYSIS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Does Your Degree Level Impact Salary?</a:t>
            </a:r>
            <a:endParaRPr lang="en-US" sz="2600" dirty="0"/>
          </a:p>
        </p:txBody>
      </p:sp>
      <p:graphicFrame>
        <p:nvGraphicFramePr>
          <p:cNvPr id="6" name="Chart 0" descr=""/>
          <p:cNvGraphicFramePr/>
          <p:nvPr/>
        </p:nvGraphicFramePr>
        <p:xfrm>
          <a:off x="365760" y="1170432"/>
          <a:ext cx="4572000" cy="2971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212080" y="1234440"/>
            <a:ext cx="3657600" cy="100584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8" name="Shape 5"/>
          <p:cNvSpPr/>
          <p:nvPr/>
        </p:nvSpPr>
        <p:spPr>
          <a:xfrm>
            <a:off x="5212080" y="1234440"/>
            <a:ext cx="64008" cy="1005840"/>
          </a:xfrm>
          <a:prstGeom prst="rect">
            <a:avLst/>
          </a:prstGeom>
          <a:solidFill>
            <a:srgbClr val="A371F7"/>
          </a:solidFill>
          <a:ln/>
        </p:spPr>
      </p:sp>
      <p:sp>
        <p:nvSpPr>
          <p:cNvPr id="9" name="Text 6"/>
          <p:cNvSpPr/>
          <p:nvPr/>
        </p:nvSpPr>
        <p:spPr>
          <a:xfrm>
            <a:off x="5394960" y="1325880"/>
            <a:ext cx="1828800"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PhD</a:t>
            </a:r>
            <a:endParaRPr lang="en-US" sz="1300" dirty="0"/>
          </a:p>
        </p:txBody>
      </p:sp>
      <p:sp>
        <p:nvSpPr>
          <p:cNvPr id="10" name="Text 7"/>
          <p:cNvSpPr/>
          <p:nvPr/>
        </p:nvSpPr>
        <p:spPr>
          <a:xfrm>
            <a:off x="7680960" y="1325880"/>
            <a:ext cx="1097280" cy="292608"/>
          </a:xfrm>
          <a:prstGeom prst="rect">
            <a:avLst/>
          </a:prstGeom>
          <a:noFill/>
          <a:ln/>
        </p:spPr>
        <p:txBody>
          <a:bodyPr wrap="square" rtlCol="0" anchor="ctr"/>
          <a:lstStyle/>
          <a:p>
            <a:pPr algn="r" indent="0" marL="0">
              <a:buNone/>
            </a:pPr>
            <a:r>
              <a:rPr lang="en-US" sz="1300" b="1" dirty="0">
                <a:solidFill>
                  <a:srgbClr val="A371F7"/>
                </a:solidFill>
                <a:latin typeface="Segoe UI Semibold" pitchFamily="34" charset="0"/>
                <a:ea typeface="Segoe UI Semibold" pitchFamily="34" charset="-122"/>
                <a:cs typeface="Segoe UI Semibold" pitchFamily="34" charset="-120"/>
              </a:rPr>
              <a:t>+32%</a:t>
            </a:r>
            <a:endParaRPr lang="en-US" sz="1300" dirty="0"/>
          </a:p>
        </p:txBody>
      </p:sp>
      <p:sp>
        <p:nvSpPr>
          <p:cNvPr id="11" name="Text 8"/>
          <p:cNvSpPr/>
          <p:nvPr/>
        </p:nvSpPr>
        <p:spPr>
          <a:xfrm>
            <a:off x="5394960" y="1636776"/>
            <a:ext cx="2286000" cy="347472"/>
          </a:xfrm>
          <a:prstGeom prst="rect">
            <a:avLst/>
          </a:prstGeom>
          <a:noFill/>
          <a:ln/>
        </p:spPr>
        <p:txBody>
          <a:bodyPr wrap="square" rtlCol="0" anchor="ctr"/>
          <a:lstStyle/>
          <a:p>
            <a:pPr indent="0" marL="0">
              <a:buNone/>
            </a:pPr>
            <a:r>
              <a:rPr lang="en-US" sz="2000" b="1" dirty="0">
                <a:solidFill>
                  <a:srgbClr val="A371F7"/>
                </a:solidFill>
                <a:latin typeface="Segoe UI Semibold" pitchFamily="34" charset="0"/>
                <a:ea typeface="Segoe UI Semibold" pitchFamily="34" charset="-122"/>
                <a:cs typeface="Segoe UI Semibold" pitchFamily="34" charset="-120"/>
              </a:rPr>
              <a:t>$134.11K</a:t>
            </a:r>
            <a:endParaRPr lang="en-US" sz="2000" dirty="0"/>
          </a:p>
        </p:txBody>
      </p:sp>
      <p:sp>
        <p:nvSpPr>
          <p:cNvPr id="12" name="Text 9"/>
          <p:cNvSpPr/>
          <p:nvPr/>
        </p:nvSpPr>
        <p:spPr>
          <a:xfrm>
            <a:off x="5394960" y="1947672"/>
            <a:ext cx="3291840" cy="22860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Above Not Applicable baseline</a:t>
            </a:r>
            <a:endParaRPr lang="en-US" sz="900" dirty="0"/>
          </a:p>
        </p:txBody>
      </p:sp>
      <p:sp>
        <p:nvSpPr>
          <p:cNvPr id="13" name="Shape 10"/>
          <p:cNvSpPr/>
          <p:nvPr/>
        </p:nvSpPr>
        <p:spPr>
          <a:xfrm>
            <a:off x="5212080" y="2423160"/>
            <a:ext cx="3657600" cy="100584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4" name="Shape 11"/>
          <p:cNvSpPr/>
          <p:nvPr/>
        </p:nvSpPr>
        <p:spPr>
          <a:xfrm>
            <a:off x="5212080" y="2423160"/>
            <a:ext cx="64008" cy="1005840"/>
          </a:xfrm>
          <a:prstGeom prst="rect">
            <a:avLst/>
          </a:prstGeom>
          <a:solidFill>
            <a:srgbClr val="58A6FF"/>
          </a:solidFill>
          <a:ln/>
        </p:spPr>
      </p:sp>
      <p:sp>
        <p:nvSpPr>
          <p:cNvPr id="15" name="Text 12"/>
          <p:cNvSpPr/>
          <p:nvPr/>
        </p:nvSpPr>
        <p:spPr>
          <a:xfrm>
            <a:off x="5394960" y="2514600"/>
            <a:ext cx="1828800"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Masters</a:t>
            </a:r>
            <a:endParaRPr lang="en-US" sz="1300" dirty="0"/>
          </a:p>
        </p:txBody>
      </p:sp>
      <p:sp>
        <p:nvSpPr>
          <p:cNvPr id="16" name="Text 13"/>
          <p:cNvSpPr/>
          <p:nvPr/>
        </p:nvSpPr>
        <p:spPr>
          <a:xfrm>
            <a:off x="7680960" y="2514600"/>
            <a:ext cx="1097280" cy="292608"/>
          </a:xfrm>
          <a:prstGeom prst="rect">
            <a:avLst/>
          </a:prstGeom>
          <a:noFill/>
          <a:ln/>
        </p:spPr>
        <p:txBody>
          <a:bodyPr wrap="square" rtlCol="0" anchor="ctr"/>
          <a:lstStyle/>
          <a:p>
            <a:pPr algn="r" indent="0" marL="0">
              <a:buNone/>
            </a:pPr>
            <a:r>
              <a:rPr lang="en-US" sz="1300" b="1" dirty="0">
                <a:solidFill>
                  <a:srgbClr val="58A6FF"/>
                </a:solidFill>
                <a:latin typeface="Segoe UI Semibold" pitchFamily="34" charset="0"/>
                <a:ea typeface="Segoe UI Semibold" pitchFamily="34" charset="-122"/>
                <a:cs typeface="Segoe UI Semibold" pitchFamily="34" charset="-120"/>
              </a:rPr>
              <a:t>+6%</a:t>
            </a:r>
            <a:endParaRPr lang="en-US" sz="1300" dirty="0"/>
          </a:p>
        </p:txBody>
      </p:sp>
      <p:sp>
        <p:nvSpPr>
          <p:cNvPr id="17" name="Text 14"/>
          <p:cNvSpPr/>
          <p:nvPr/>
        </p:nvSpPr>
        <p:spPr>
          <a:xfrm>
            <a:off x="5394960" y="2825496"/>
            <a:ext cx="2286000" cy="347472"/>
          </a:xfrm>
          <a:prstGeom prst="rect">
            <a:avLst/>
          </a:prstGeom>
          <a:noFill/>
          <a:ln/>
        </p:spPr>
        <p:txBody>
          <a:bodyPr wrap="square" rtlCol="0" anchor="ctr"/>
          <a:lstStyle/>
          <a:p>
            <a:pPr indent="0" marL="0">
              <a:buNone/>
            </a:pPr>
            <a:r>
              <a:rPr lang="en-US" sz="2000" b="1" dirty="0">
                <a:solidFill>
                  <a:srgbClr val="58A6FF"/>
                </a:solidFill>
                <a:latin typeface="Segoe UI Semibold" pitchFamily="34" charset="0"/>
                <a:ea typeface="Segoe UI Semibold" pitchFamily="34" charset="-122"/>
                <a:cs typeface="Segoe UI Semibold" pitchFamily="34" charset="-120"/>
              </a:rPr>
              <a:t>$108.15K</a:t>
            </a:r>
            <a:endParaRPr lang="en-US" sz="2000" dirty="0"/>
          </a:p>
        </p:txBody>
      </p:sp>
      <p:sp>
        <p:nvSpPr>
          <p:cNvPr id="18" name="Text 15"/>
          <p:cNvSpPr/>
          <p:nvPr/>
        </p:nvSpPr>
        <p:spPr>
          <a:xfrm>
            <a:off x="5394960" y="3136392"/>
            <a:ext cx="3291840" cy="22860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Moderate salary premium</a:t>
            </a:r>
            <a:endParaRPr lang="en-US" sz="900" dirty="0"/>
          </a:p>
        </p:txBody>
      </p:sp>
      <p:sp>
        <p:nvSpPr>
          <p:cNvPr id="19" name="Shape 16"/>
          <p:cNvSpPr/>
          <p:nvPr/>
        </p:nvSpPr>
        <p:spPr>
          <a:xfrm>
            <a:off x="5212080" y="3611880"/>
            <a:ext cx="3657600" cy="100584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0" name="Shape 17"/>
          <p:cNvSpPr/>
          <p:nvPr/>
        </p:nvSpPr>
        <p:spPr>
          <a:xfrm>
            <a:off x="5212080" y="3611880"/>
            <a:ext cx="64008" cy="1005840"/>
          </a:xfrm>
          <a:prstGeom prst="rect">
            <a:avLst/>
          </a:prstGeom>
          <a:solidFill>
            <a:srgbClr val="39D0D8"/>
          </a:solidFill>
          <a:ln/>
        </p:spPr>
      </p:sp>
      <p:sp>
        <p:nvSpPr>
          <p:cNvPr id="21" name="Text 18"/>
          <p:cNvSpPr/>
          <p:nvPr/>
        </p:nvSpPr>
        <p:spPr>
          <a:xfrm>
            <a:off x="5394960" y="3703320"/>
            <a:ext cx="1828800"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Not Applicable</a:t>
            </a:r>
            <a:endParaRPr lang="en-US" sz="1300" dirty="0"/>
          </a:p>
        </p:txBody>
      </p:sp>
      <p:sp>
        <p:nvSpPr>
          <p:cNvPr id="22" name="Text 19"/>
          <p:cNvSpPr/>
          <p:nvPr/>
        </p:nvSpPr>
        <p:spPr>
          <a:xfrm>
            <a:off x="7680960" y="3703320"/>
            <a:ext cx="1097280" cy="292608"/>
          </a:xfrm>
          <a:prstGeom prst="rect">
            <a:avLst/>
          </a:prstGeom>
          <a:noFill/>
          <a:ln/>
        </p:spPr>
        <p:txBody>
          <a:bodyPr wrap="square" rtlCol="0" anchor="ctr"/>
          <a:lstStyle/>
          <a:p>
            <a:pPr algn="r" indent="0" marL="0">
              <a:buNone/>
            </a:pPr>
            <a:r>
              <a:rPr lang="en-US" sz="1300" b="1" dirty="0">
                <a:solidFill>
                  <a:srgbClr val="39D0D8"/>
                </a:solidFill>
                <a:latin typeface="Segoe UI Semibold" pitchFamily="34" charset="0"/>
                <a:ea typeface="Segoe UI Semibold" pitchFamily="34" charset="-122"/>
                <a:cs typeface="Segoe UI Semibold" pitchFamily="34" charset="-120"/>
              </a:rPr>
              <a:t>—</a:t>
            </a:r>
            <a:endParaRPr lang="en-US" sz="1300" dirty="0"/>
          </a:p>
        </p:txBody>
      </p:sp>
      <p:sp>
        <p:nvSpPr>
          <p:cNvPr id="23" name="Text 20"/>
          <p:cNvSpPr/>
          <p:nvPr/>
        </p:nvSpPr>
        <p:spPr>
          <a:xfrm>
            <a:off x="5394960" y="4014216"/>
            <a:ext cx="2286000" cy="347472"/>
          </a:xfrm>
          <a:prstGeom prst="rect">
            <a:avLst/>
          </a:prstGeom>
          <a:noFill/>
          <a:ln/>
        </p:spPr>
        <p:txBody>
          <a:bodyPr wrap="square" rtlCol="0" anchor="ctr"/>
          <a:lstStyle/>
          <a:p>
            <a:pPr indent="0" marL="0">
              <a:buNone/>
            </a:pPr>
            <a:r>
              <a:rPr lang="en-US" sz="2000" b="1" dirty="0">
                <a:solidFill>
                  <a:srgbClr val="39D0D8"/>
                </a:solidFill>
                <a:latin typeface="Segoe UI Semibold" pitchFamily="34" charset="0"/>
                <a:ea typeface="Segoe UI Semibold" pitchFamily="34" charset="-122"/>
                <a:cs typeface="Segoe UI Semibold" pitchFamily="34" charset="-120"/>
              </a:rPr>
              <a:t>$101.53K</a:t>
            </a:r>
            <a:endParaRPr lang="en-US" sz="2000" dirty="0"/>
          </a:p>
        </p:txBody>
      </p:sp>
      <p:sp>
        <p:nvSpPr>
          <p:cNvPr id="24" name="Text 21"/>
          <p:cNvSpPr/>
          <p:nvPr/>
        </p:nvSpPr>
        <p:spPr>
          <a:xfrm>
            <a:off x="5394960" y="4325112"/>
            <a:ext cx="3291840" cy="228600"/>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Base compensation level</a:t>
            </a:r>
            <a:endParaRPr lang="en-US" sz="900" dirty="0"/>
          </a:p>
        </p:txBody>
      </p:sp>
      <p:sp>
        <p:nvSpPr>
          <p:cNvPr id="25" name="Shape 22"/>
          <p:cNvSpPr/>
          <p:nvPr/>
        </p:nvSpPr>
        <p:spPr>
          <a:xfrm>
            <a:off x="365760" y="4251960"/>
            <a:ext cx="8458200" cy="548640"/>
          </a:xfrm>
          <a:prstGeom prst="rect">
            <a:avLst/>
          </a:prstGeom>
          <a:solidFill>
            <a:srgbClr val="21262D"/>
          </a:solidFill>
          <a:ln/>
        </p:spPr>
      </p:sp>
      <p:sp>
        <p:nvSpPr>
          <p:cNvPr id="26" name="Shape 23"/>
          <p:cNvSpPr/>
          <p:nvPr/>
        </p:nvSpPr>
        <p:spPr>
          <a:xfrm>
            <a:off x="365760" y="4251960"/>
            <a:ext cx="64008" cy="548640"/>
          </a:xfrm>
          <a:prstGeom prst="rect">
            <a:avLst/>
          </a:prstGeom>
          <a:solidFill>
            <a:srgbClr val="A371F7"/>
          </a:solidFill>
          <a:ln/>
        </p:spPr>
      </p:sp>
      <p:sp>
        <p:nvSpPr>
          <p:cNvPr id="27" name="Text 24"/>
          <p:cNvSpPr/>
          <p:nvPr/>
        </p:nvSpPr>
        <p:spPr>
          <a:xfrm>
            <a:off x="594360" y="4325112"/>
            <a:ext cx="8138160" cy="402336"/>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  PhD holders earn on average $32.58K more than those without a specific degree requirement. Education remains a strong salary differentiator in data science.</a:t>
            </a:r>
            <a:endParaRPr lang="en-US" sz="1000" dirty="0"/>
          </a:p>
        </p:txBody>
      </p:sp>
      <p:sp>
        <p:nvSpPr>
          <p:cNvPr id="28" name="Shape 25"/>
          <p:cNvSpPr/>
          <p:nvPr/>
        </p:nvSpPr>
        <p:spPr>
          <a:xfrm>
            <a:off x="0" y="4983480"/>
            <a:ext cx="9144000" cy="155448"/>
          </a:xfrm>
          <a:prstGeom prst="rect">
            <a:avLst/>
          </a:prstGeom>
          <a:solidFill>
            <a:srgbClr val="21262D"/>
          </a:solidFill>
          <a:ln/>
        </p:spPr>
      </p:sp>
      <p:sp>
        <p:nvSpPr>
          <p:cNvPr id="29" name="Text 26"/>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78166"/>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13</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F78166"/>
                </a:solidFill>
                <a:latin typeface="Segoe UI Semibold" pitchFamily="34" charset="0"/>
                <a:ea typeface="Segoe UI Semibold" pitchFamily="34" charset="-122"/>
                <a:cs typeface="Segoe UI Semibold" pitchFamily="34" charset="-120"/>
              </a:rPr>
              <a:t>KEY INSIGHTS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What the Data Tells Us</a:t>
            </a:r>
            <a:endParaRPr lang="en-US" sz="2600" dirty="0"/>
          </a:p>
        </p:txBody>
      </p:sp>
      <p:sp>
        <p:nvSpPr>
          <p:cNvPr id="6" name="Shape 4"/>
          <p:cNvSpPr/>
          <p:nvPr/>
        </p:nvSpPr>
        <p:spPr>
          <a:xfrm>
            <a:off x="457200" y="123444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4206240" y="1234440"/>
            <a:ext cx="320040" cy="1024128"/>
          </a:xfrm>
          <a:prstGeom prst="rect">
            <a:avLst/>
          </a:prstGeom>
          <a:solidFill>
            <a:srgbClr val="58A6FF">
              <a:alpha val="20000"/>
            </a:srgbClr>
          </a:solidFill>
          <a:ln/>
        </p:spPr>
      </p:sp>
      <p:sp>
        <p:nvSpPr>
          <p:cNvPr id="8" name="Text 6"/>
          <p:cNvSpPr/>
          <p:nvPr/>
        </p:nvSpPr>
        <p:spPr>
          <a:xfrm>
            <a:off x="530352" y="1307592"/>
            <a:ext cx="502920" cy="347472"/>
          </a:xfrm>
          <a:prstGeom prst="rect">
            <a:avLst/>
          </a:prstGeom>
          <a:noFill/>
          <a:ln/>
        </p:spPr>
        <p:txBody>
          <a:bodyPr wrap="square" lIns="0" tIns="0" rIns="0" bIns="0" rtlCol="0" anchor="ctr"/>
          <a:lstStyle/>
          <a:p>
            <a:pPr indent="0" marL="0">
              <a:buNone/>
            </a:pPr>
            <a:r>
              <a:rPr lang="en-US" sz="1600" b="1" dirty="0">
                <a:solidFill>
                  <a:srgbClr val="58A6FF"/>
                </a:solidFill>
                <a:latin typeface="Segoe UI Semibold" pitchFamily="34" charset="0"/>
                <a:ea typeface="Segoe UI Semibold" pitchFamily="34" charset="-122"/>
                <a:cs typeface="Segoe UI Semibold" pitchFamily="34" charset="-120"/>
              </a:rPr>
              <a:t>01</a:t>
            </a:r>
            <a:endParaRPr lang="en-US" sz="1600" dirty="0"/>
          </a:p>
        </p:txBody>
      </p:sp>
      <p:sp>
        <p:nvSpPr>
          <p:cNvPr id="9" name="Text 7"/>
          <p:cNvSpPr/>
          <p:nvPr/>
        </p:nvSpPr>
        <p:spPr>
          <a:xfrm>
            <a:off x="530352" y="174650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58A6FF"/>
                </a:solidFill>
                <a:latin typeface="Segoe UI Semibold" pitchFamily="34" charset="0"/>
                <a:ea typeface="Segoe UI Semibold" pitchFamily="34" charset="-122"/>
                <a:cs typeface="Segoe UI Semibold" pitchFamily="34" charset="-120"/>
              </a:rPr>
              <a:t>LOCATION</a:t>
            </a:r>
            <a:endParaRPr lang="en-US" sz="700" dirty="0"/>
          </a:p>
        </p:txBody>
      </p:sp>
      <p:sp>
        <p:nvSpPr>
          <p:cNvPr id="10" name="Text 8"/>
          <p:cNvSpPr/>
          <p:nvPr/>
        </p:nvSpPr>
        <p:spPr>
          <a:xfrm>
            <a:off x="1078992" y="130759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California leads with 98 job postings and the highest salary ceiling at $157K average max.</a:t>
            </a:r>
            <a:endParaRPr lang="en-US" sz="1000" dirty="0"/>
          </a:p>
        </p:txBody>
      </p:sp>
      <p:sp>
        <p:nvSpPr>
          <p:cNvPr id="11" name="Shape 9"/>
          <p:cNvSpPr/>
          <p:nvPr/>
        </p:nvSpPr>
        <p:spPr>
          <a:xfrm>
            <a:off x="4800600" y="123444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2" name="Shape 10"/>
          <p:cNvSpPr/>
          <p:nvPr/>
        </p:nvSpPr>
        <p:spPr>
          <a:xfrm>
            <a:off x="8549640" y="1234440"/>
            <a:ext cx="320040" cy="1024128"/>
          </a:xfrm>
          <a:prstGeom prst="rect">
            <a:avLst/>
          </a:prstGeom>
          <a:solidFill>
            <a:srgbClr val="39D0D8">
              <a:alpha val="20000"/>
            </a:srgbClr>
          </a:solidFill>
          <a:ln/>
        </p:spPr>
      </p:sp>
      <p:sp>
        <p:nvSpPr>
          <p:cNvPr id="13" name="Text 11"/>
          <p:cNvSpPr/>
          <p:nvPr/>
        </p:nvSpPr>
        <p:spPr>
          <a:xfrm>
            <a:off x="4873752" y="1307592"/>
            <a:ext cx="502920" cy="347472"/>
          </a:xfrm>
          <a:prstGeom prst="rect">
            <a:avLst/>
          </a:prstGeom>
          <a:noFill/>
          <a:ln/>
        </p:spPr>
        <p:txBody>
          <a:bodyPr wrap="square" lIns="0" tIns="0" rIns="0" bIns="0" rtlCol="0" anchor="ctr"/>
          <a:lstStyle/>
          <a:p>
            <a:pPr indent="0" marL="0">
              <a:buNone/>
            </a:pPr>
            <a:r>
              <a:rPr lang="en-US" sz="1600" b="1" dirty="0">
                <a:solidFill>
                  <a:srgbClr val="39D0D8"/>
                </a:solidFill>
                <a:latin typeface="Segoe UI Semibold" pitchFamily="34" charset="0"/>
                <a:ea typeface="Segoe UI Semibold" pitchFamily="34" charset="-122"/>
                <a:cs typeface="Segoe UI Semibold" pitchFamily="34" charset="-120"/>
              </a:rPr>
              <a:t>02</a:t>
            </a:r>
            <a:endParaRPr lang="en-US" sz="1600" dirty="0"/>
          </a:p>
        </p:txBody>
      </p:sp>
      <p:sp>
        <p:nvSpPr>
          <p:cNvPr id="14" name="Text 12"/>
          <p:cNvSpPr/>
          <p:nvPr/>
        </p:nvSpPr>
        <p:spPr>
          <a:xfrm>
            <a:off x="4873752" y="174650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39D0D8"/>
                </a:solidFill>
                <a:latin typeface="Segoe UI Semibold" pitchFamily="34" charset="0"/>
                <a:ea typeface="Segoe UI Semibold" pitchFamily="34" charset="-122"/>
                <a:cs typeface="Segoe UI Semibold" pitchFamily="34" charset="-120"/>
              </a:rPr>
              <a:t>ROLE</a:t>
            </a:r>
            <a:endParaRPr lang="en-US" sz="700" dirty="0"/>
          </a:p>
        </p:txBody>
      </p:sp>
      <p:sp>
        <p:nvSpPr>
          <p:cNvPr id="15" name="Text 13"/>
          <p:cNvSpPr/>
          <p:nvPr/>
        </p:nvSpPr>
        <p:spPr>
          <a:xfrm>
            <a:off x="5422392" y="130759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Data Scientist is the most demanded role — appearing in over a third of all job listings.</a:t>
            </a:r>
            <a:endParaRPr lang="en-US" sz="1000" dirty="0"/>
          </a:p>
        </p:txBody>
      </p:sp>
      <p:sp>
        <p:nvSpPr>
          <p:cNvPr id="16" name="Shape 14"/>
          <p:cNvSpPr/>
          <p:nvPr/>
        </p:nvSpPr>
        <p:spPr>
          <a:xfrm>
            <a:off x="457200" y="246888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7" name="Shape 15"/>
          <p:cNvSpPr/>
          <p:nvPr/>
        </p:nvSpPr>
        <p:spPr>
          <a:xfrm>
            <a:off x="4206240" y="2468880"/>
            <a:ext cx="320040" cy="1024128"/>
          </a:xfrm>
          <a:prstGeom prst="rect">
            <a:avLst/>
          </a:prstGeom>
          <a:solidFill>
            <a:srgbClr val="3FB950">
              <a:alpha val="20000"/>
            </a:srgbClr>
          </a:solidFill>
          <a:ln/>
        </p:spPr>
      </p:sp>
      <p:sp>
        <p:nvSpPr>
          <p:cNvPr id="18" name="Text 16"/>
          <p:cNvSpPr/>
          <p:nvPr/>
        </p:nvSpPr>
        <p:spPr>
          <a:xfrm>
            <a:off x="530352" y="2542032"/>
            <a:ext cx="502920" cy="347472"/>
          </a:xfrm>
          <a:prstGeom prst="rect">
            <a:avLst/>
          </a:prstGeom>
          <a:noFill/>
          <a:ln/>
        </p:spPr>
        <p:txBody>
          <a:bodyPr wrap="square" lIns="0" tIns="0" rIns="0" bIns="0" rtlCol="0" anchor="ctr"/>
          <a:lstStyle/>
          <a:p>
            <a:pPr indent="0" marL="0">
              <a:buNone/>
            </a:pPr>
            <a:r>
              <a:rPr lang="en-US" sz="1600" b="1" dirty="0">
                <a:solidFill>
                  <a:srgbClr val="3FB950"/>
                </a:solidFill>
                <a:latin typeface="Segoe UI Semibold" pitchFamily="34" charset="0"/>
                <a:ea typeface="Segoe UI Semibold" pitchFamily="34" charset="-122"/>
                <a:cs typeface="Segoe UI Semibold" pitchFamily="34" charset="-120"/>
              </a:rPr>
              <a:t>03</a:t>
            </a:r>
            <a:endParaRPr lang="en-US" sz="1600" dirty="0"/>
          </a:p>
        </p:txBody>
      </p:sp>
      <p:sp>
        <p:nvSpPr>
          <p:cNvPr id="19" name="Text 17"/>
          <p:cNvSpPr/>
          <p:nvPr/>
        </p:nvSpPr>
        <p:spPr>
          <a:xfrm>
            <a:off x="530352" y="298094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3FB950"/>
                </a:solidFill>
                <a:latin typeface="Segoe UI Semibold" pitchFamily="34" charset="0"/>
                <a:ea typeface="Segoe UI Semibold" pitchFamily="34" charset="-122"/>
                <a:cs typeface="Segoe UI Semibold" pitchFamily="34" charset="-120"/>
              </a:rPr>
              <a:t>SKILLS</a:t>
            </a:r>
            <a:endParaRPr lang="en-US" sz="700" dirty="0"/>
          </a:p>
        </p:txBody>
      </p:sp>
      <p:sp>
        <p:nvSpPr>
          <p:cNvPr id="20" name="Text 18"/>
          <p:cNvSpPr/>
          <p:nvPr/>
        </p:nvSpPr>
        <p:spPr>
          <a:xfrm>
            <a:off x="1078992" y="254203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Python (258) and SQL (253) are near-universal requirements across all data science roles.</a:t>
            </a:r>
            <a:endParaRPr lang="en-US" sz="1000" dirty="0"/>
          </a:p>
        </p:txBody>
      </p:sp>
      <p:sp>
        <p:nvSpPr>
          <p:cNvPr id="21" name="Shape 19"/>
          <p:cNvSpPr/>
          <p:nvPr/>
        </p:nvSpPr>
        <p:spPr>
          <a:xfrm>
            <a:off x="4800600" y="246888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2" name="Shape 20"/>
          <p:cNvSpPr/>
          <p:nvPr/>
        </p:nvSpPr>
        <p:spPr>
          <a:xfrm>
            <a:off x="8549640" y="2468880"/>
            <a:ext cx="320040" cy="1024128"/>
          </a:xfrm>
          <a:prstGeom prst="rect">
            <a:avLst/>
          </a:prstGeom>
          <a:solidFill>
            <a:srgbClr val="F78166">
              <a:alpha val="20000"/>
            </a:srgbClr>
          </a:solidFill>
          <a:ln/>
        </p:spPr>
      </p:sp>
      <p:sp>
        <p:nvSpPr>
          <p:cNvPr id="23" name="Text 21"/>
          <p:cNvSpPr/>
          <p:nvPr/>
        </p:nvSpPr>
        <p:spPr>
          <a:xfrm>
            <a:off x="4873752" y="2542032"/>
            <a:ext cx="502920" cy="347472"/>
          </a:xfrm>
          <a:prstGeom prst="rect">
            <a:avLst/>
          </a:prstGeom>
          <a:noFill/>
          <a:ln/>
        </p:spPr>
        <p:txBody>
          <a:bodyPr wrap="square" lIns="0" tIns="0" rIns="0" bIns="0" rtlCol="0" anchor="ctr"/>
          <a:lstStyle/>
          <a:p>
            <a:pPr indent="0" marL="0">
              <a:buNone/>
            </a:pPr>
            <a:r>
              <a:rPr lang="en-US" sz="1600" b="1" dirty="0">
                <a:solidFill>
                  <a:srgbClr val="F78166"/>
                </a:solidFill>
                <a:latin typeface="Segoe UI Semibold" pitchFamily="34" charset="0"/>
                <a:ea typeface="Segoe UI Semibold" pitchFamily="34" charset="-122"/>
                <a:cs typeface="Segoe UI Semibold" pitchFamily="34" charset="-120"/>
              </a:rPr>
              <a:t>04</a:t>
            </a:r>
            <a:endParaRPr lang="en-US" sz="1600" dirty="0"/>
          </a:p>
        </p:txBody>
      </p:sp>
      <p:sp>
        <p:nvSpPr>
          <p:cNvPr id="24" name="Text 22"/>
          <p:cNvSpPr/>
          <p:nvPr/>
        </p:nvSpPr>
        <p:spPr>
          <a:xfrm>
            <a:off x="4873752" y="298094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F78166"/>
                </a:solidFill>
                <a:latin typeface="Segoe UI Semibold" pitchFamily="34" charset="0"/>
                <a:ea typeface="Segoe UI Semibold" pitchFamily="34" charset="-122"/>
                <a:cs typeface="Segoe UI Semibold" pitchFamily="34" charset="-120"/>
              </a:rPr>
              <a:t>INDUSTRY</a:t>
            </a:r>
            <a:endParaRPr lang="en-US" sz="700" dirty="0"/>
          </a:p>
        </p:txBody>
      </p:sp>
      <p:sp>
        <p:nvSpPr>
          <p:cNvPr id="25" name="Text 23"/>
          <p:cNvSpPr/>
          <p:nvPr/>
        </p:nvSpPr>
        <p:spPr>
          <a:xfrm>
            <a:off x="5422392" y="254203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Biotech &amp; Pharmaceuticals is the #1 hiring industry, surpassing enterprise software and IT services.</a:t>
            </a:r>
            <a:endParaRPr lang="en-US" sz="1000" dirty="0"/>
          </a:p>
        </p:txBody>
      </p:sp>
      <p:sp>
        <p:nvSpPr>
          <p:cNvPr id="26" name="Shape 24"/>
          <p:cNvSpPr/>
          <p:nvPr/>
        </p:nvSpPr>
        <p:spPr>
          <a:xfrm>
            <a:off x="457200" y="370332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7" name="Shape 25"/>
          <p:cNvSpPr/>
          <p:nvPr/>
        </p:nvSpPr>
        <p:spPr>
          <a:xfrm>
            <a:off x="4206240" y="3703320"/>
            <a:ext cx="320040" cy="1024128"/>
          </a:xfrm>
          <a:prstGeom prst="rect">
            <a:avLst/>
          </a:prstGeom>
          <a:solidFill>
            <a:srgbClr val="A371F7">
              <a:alpha val="20000"/>
            </a:srgbClr>
          </a:solidFill>
          <a:ln/>
        </p:spPr>
      </p:sp>
      <p:sp>
        <p:nvSpPr>
          <p:cNvPr id="28" name="Text 26"/>
          <p:cNvSpPr/>
          <p:nvPr/>
        </p:nvSpPr>
        <p:spPr>
          <a:xfrm>
            <a:off x="530352" y="3776472"/>
            <a:ext cx="502920" cy="347472"/>
          </a:xfrm>
          <a:prstGeom prst="rect">
            <a:avLst/>
          </a:prstGeom>
          <a:noFill/>
          <a:ln/>
        </p:spPr>
        <p:txBody>
          <a:bodyPr wrap="square" lIns="0" tIns="0" rIns="0" bIns="0" rtlCol="0" anchor="ctr"/>
          <a:lstStyle/>
          <a:p>
            <a:pPr indent="0" marL="0">
              <a:buNone/>
            </a:pPr>
            <a:r>
              <a:rPr lang="en-US" sz="1600" b="1" dirty="0">
                <a:solidFill>
                  <a:srgbClr val="A371F7"/>
                </a:solidFill>
                <a:latin typeface="Segoe UI Semibold" pitchFamily="34" charset="0"/>
                <a:ea typeface="Segoe UI Semibold" pitchFamily="34" charset="-122"/>
                <a:cs typeface="Segoe UI Semibold" pitchFamily="34" charset="-120"/>
              </a:rPr>
              <a:t>05</a:t>
            </a:r>
            <a:endParaRPr lang="en-US" sz="1600" dirty="0"/>
          </a:p>
        </p:txBody>
      </p:sp>
      <p:sp>
        <p:nvSpPr>
          <p:cNvPr id="29" name="Text 27"/>
          <p:cNvSpPr/>
          <p:nvPr/>
        </p:nvSpPr>
        <p:spPr>
          <a:xfrm>
            <a:off x="530352" y="421538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A371F7"/>
                </a:solidFill>
                <a:latin typeface="Segoe UI Semibold" pitchFamily="34" charset="0"/>
                <a:ea typeface="Segoe UI Semibold" pitchFamily="34" charset="-122"/>
                <a:cs typeface="Segoe UI Semibold" pitchFamily="34" charset="-120"/>
              </a:rPr>
              <a:t>EDUCATION</a:t>
            </a:r>
            <a:endParaRPr lang="en-US" sz="700" dirty="0"/>
          </a:p>
        </p:txBody>
      </p:sp>
      <p:sp>
        <p:nvSpPr>
          <p:cNvPr id="30" name="Text 28"/>
          <p:cNvSpPr/>
          <p:nvPr/>
        </p:nvSpPr>
        <p:spPr>
          <a:xfrm>
            <a:off x="1078992" y="377647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PhD holders command $134K avg salary — 32% above candidates without a degree requirement.</a:t>
            </a:r>
            <a:endParaRPr lang="en-US" sz="1000" dirty="0"/>
          </a:p>
        </p:txBody>
      </p:sp>
      <p:sp>
        <p:nvSpPr>
          <p:cNvPr id="31" name="Shape 29"/>
          <p:cNvSpPr/>
          <p:nvPr/>
        </p:nvSpPr>
        <p:spPr>
          <a:xfrm>
            <a:off x="4800600" y="3703320"/>
            <a:ext cx="4069080" cy="1024128"/>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2" name="Shape 30"/>
          <p:cNvSpPr/>
          <p:nvPr/>
        </p:nvSpPr>
        <p:spPr>
          <a:xfrm>
            <a:off x="8549640" y="3703320"/>
            <a:ext cx="320040" cy="1024128"/>
          </a:xfrm>
          <a:prstGeom prst="rect">
            <a:avLst/>
          </a:prstGeom>
          <a:solidFill>
            <a:srgbClr val="58A6FF">
              <a:alpha val="20000"/>
            </a:srgbClr>
          </a:solidFill>
          <a:ln/>
        </p:spPr>
      </p:sp>
      <p:sp>
        <p:nvSpPr>
          <p:cNvPr id="33" name="Text 31"/>
          <p:cNvSpPr/>
          <p:nvPr/>
        </p:nvSpPr>
        <p:spPr>
          <a:xfrm>
            <a:off x="4873752" y="3776472"/>
            <a:ext cx="502920" cy="347472"/>
          </a:xfrm>
          <a:prstGeom prst="rect">
            <a:avLst/>
          </a:prstGeom>
          <a:noFill/>
          <a:ln/>
        </p:spPr>
        <p:txBody>
          <a:bodyPr wrap="square" lIns="0" tIns="0" rIns="0" bIns="0" rtlCol="0" anchor="ctr"/>
          <a:lstStyle/>
          <a:p>
            <a:pPr indent="0" marL="0">
              <a:buNone/>
            </a:pPr>
            <a:r>
              <a:rPr lang="en-US" sz="1600" b="1" dirty="0">
                <a:solidFill>
                  <a:srgbClr val="58A6FF"/>
                </a:solidFill>
                <a:latin typeface="Segoe UI Semibold" pitchFamily="34" charset="0"/>
                <a:ea typeface="Segoe UI Semibold" pitchFamily="34" charset="-122"/>
                <a:cs typeface="Segoe UI Semibold" pitchFamily="34" charset="-120"/>
              </a:rPr>
              <a:t>06</a:t>
            </a:r>
            <a:endParaRPr lang="en-US" sz="1600" dirty="0"/>
          </a:p>
        </p:txBody>
      </p:sp>
      <p:sp>
        <p:nvSpPr>
          <p:cNvPr id="34" name="Text 32"/>
          <p:cNvSpPr/>
          <p:nvPr/>
        </p:nvSpPr>
        <p:spPr>
          <a:xfrm>
            <a:off x="4873752" y="4215384"/>
            <a:ext cx="502920" cy="347472"/>
          </a:xfrm>
          <a:prstGeom prst="rect">
            <a:avLst/>
          </a:prstGeom>
          <a:noFill/>
          <a:ln/>
        </p:spPr>
        <p:txBody>
          <a:bodyPr wrap="square" lIns="0" tIns="0" rIns="0" bIns="0" rtlCol="0" anchor="ctr"/>
          <a:lstStyle/>
          <a:p>
            <a:pPr indent="0" marL="0">
              <a:lnSpc>
                <a:spcPct val="100000"/>
              </a:lnSpc>
              <a:buNone/>
            </a:pPr>
            <a:r>
              <a:rPr lang="en-US" sz="700" spc="100" kern="0" dirty="0">
                <a:solidFill>
                  <a:srgbClr val="58A6FF"/>
                </a:solidFill>
                <a:latin typeface="Segoe UI Semibold" pitchFamily="34" charset="0"/>
                <a:ea typeface="Segoe UI Semibold" pitchFamily="34" charset="-122"/>
                <a:cs typeface="Segoe UI Semibold" pitchFamily="34" charset="-120"/>
              </a:rPr>
              <a:t>SALARY</a:t>
            </a:r>
            <a:endParaRPr lang="en-US" sz="700" dirty="0"/>
          </a:p>
        </p:txBody>
      </p:sp>
      <p:sp>
        <p:nvSpPr>
          <p:cNvPr id="35" name="Text 33"/>
          <p:cNvSpPr/>
          <p:nvPr/>
        </p:nvSpPr>
        <p:spPr>
          <a:xfrm>
            <a:off x="5422392" y="3776472"/>
            <a:ext cx="3127248" cy="841248"/>
          </a:xfrm>
          <a:prstGeom prst="rect">
            <a:avLst/>
          </a:prstGeom>
          <a:noFill/>
          <a:ln/>
        </p:spPr>
        <p:txBody>
          <a:bodyPr wrap="square" rtlCol="0" anchor="ctr"/>
          <a:lstStyle/>
          <a:p>
            <a:pPr indent="0" marL="0">
              <a:lnSpc>
                <a:spcPct val="140000"/>
              </a:lnSpc>
              <a:buNone/>
            </a:pPr>
            <a:r>
              <a:rPr lang="en-US" sz="1000" dirty="0">
                <a:solidFill>
                  <a:srgbClr val="C9D1D9"/>
                </a:solidFill>
                <a:latin typeface="Segoe UI" pitchFamily="34" charset="0"/>
                <a:ea typeface="Segoe UI" pitchFamily="34" charset="-122"/>
                <a:cs typeface="Segoe UI" pitchFamily="34" charset="-120"/>
              </a:rPr>
              <a:t>Machine Learning Engineers see some of the highest salary bands among individual contributor roles.</a:t>
            </a:r>
            <a:endParaRPr lang="en-US" sz="1000" dirty="0"/>
          </a:p>
        </p:txBody>
      </p:sp>
      <p:sp>
        <p:nvSpPr>
          <p:cNvPr id="36" name="Shape 34"/>
          <p:cNvSpPr/>
          <p:nvPr/>
        </p:nvSpPr>
        <p:spPr>
          <a:xfrm>
            <a:off x="0" y="4983480"/>
            <a:ext cx="9144000" cy="155448"/>
          </a:xfrm>
          <a:prstGeom prst="rect">
            <a:avLst/>
          </a:prstGeom>
          <a:solidFill>
            <a:srgbClr val="21262D"/>
          </a:solidFill>
          <a:ln/>
        </p:spPr>
      </p:sp>
      <p:sp>
        <p:nvSpPr>
          <p:cNvPr id="37" name="Text 35"/>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FB950"/>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14</a:t>
            </a:r>
            <a:endParaRPr lang="en-US" sz="1000" dirty="0"/>
          </a:p>
        </p:txBody>
      </p:sp>
      <p:sp>
        <p:nvSpPr>
          <p:cNvPr id="4" name="Text 2"/>
          <p:cNvSpPr/>
          <p:nvPr/>
        </p:nvSpPr>
        <p:spPr>
          <a:xfrm>
            <a:off x="457200" y="137160"/>
            <a:ext cx="5486400" cy="320040"/>
          </a:xfrm>
          <a:prstGeom prst="rect">
            <a:avLst/>
          </a:prstGeom>
          <a:noFill/>
          <a:ln/>
        </p:spPr>
        <p:txBody>
          <a:bodyPr wrap="square" rtlCol="0" anchor="ctr"/>
          <a:lstStyle/>
          <a:p>
            <a:pPr indent="0" marL="0">
              <a:buNone/>
            </a:pPr>
            <a:r>
              <a:rPr lang="en-US" sz="900" spc="300" kern="0" dirty="0">
                <a:solidFill>
                  <a:srgbClr val="3FB950"/>
                </a:solidFill>
                <a:latin typeface="Segoe UI Semibold" pitchFamily="34" charset="0"/>
                <a:ea typeface="Segoe UI Semibold" pitchFamily="34" charset="-122"/>
                <a:cs typeface="Segoe UI Semibold" pitchFamily="34" charset="-120"/>
              </a:rPr>
              <a:t>RECOMMENDATIONS</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Actionable Suggestions</a:t>
            </a:r>
            <a:endParaRPr lang="en-US" sz="2600" dirty="0"/>
          </a:p>
        </p:txBody>
      </p:sp>
      <p:sp>
        <p:nvSpPr>
          <p:cNvPr id="6" name="Shape 4"/>
          <p:cNvSpPr/>
          <p:nvPr/>
        </p:nvSpPr>
        <p:spPr>
          <a:xfrm>
            <a:off x="365760" y="1170432"/>
            <a:ext cx="4023360" cy="384048"/>
          </a:xfrm>
          <a:prstGeom prst="rect">
            <a:avLst/>
          </a:prstGeom>
          <a:solidFill>
            <a:srgbClr val="58A6FF">
              <a:alpha val="15000"/>
            </a:srgbClr>
          </a:solidFill>
          <a:ln/>
        </p:spPr>
      </p:sp>
      <p:sp>
        <p:nvSpPr>
          <p:cNvPr id="7" name="Text 5"/>
          <p:cNvSpPr/>
          <p:nvPr/>
        </p:nvSpPr>
        <p:spPr>
          <a:xfrm>
            <a:off x="457200" y="1216152"/>
            <a:ext cx="3840480"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  For Job Seekers</a:t>
            </a:r>
            <a:endParaRPr lang="en-US" sz="1300" dirty="0"/>
          </a:p>
        </p:txBody>
      </p:sp>
      <p:sp>
        <p:nvSpPr>
          <p:cNvPr id="8" name="Shape 6"/>
          <p:cNvSpPr/>
          <p:nvPr/>
        </p:nvSpPr>
        <p:spPr>
          <a:xfrm>
            <a:off x="365760" y="1627632"/>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9" name="Shape 7"/>
          <p:cNvSpPr/>
          <p:nvPr/>
        </p:nvSpPr>
        <p:spPr>
          <a:xfrm>
            <a:off x="502920" y="1783080"/>
            <a:ext cx="91440" cy="91440"/>
          </a:xfrm>
          <a:prstGeom prst="ellipse">
            <a:avLst/>
          </a:prstGeom>
          <a:solidFill>
            <a:srgbClr val="58A6FF"/>
          </a:solidFill>
          <a:ln/>
        </p:spPr>
      </p:sp>
      <p:sp>
        <p:nvSpPr>
          <p:cNvPr id="10" name="Text 8"/>
          <p:cNvSpPr/>
          <p:nvPr/>
        </p:nvSpPr>
        <p:spPr>
          <a:xfrm>
            <a:off x="685800" y="1664208"/>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Target California, Massachusetts, and New York for maximum opportunity density.</a:t>
            </a:r>
            <a:endParaRPr lang="en-US" sz="1000" dirty="0"/>
          </a:p>
        </p:txBody>
      </p:sp>
      <p:sp>
        <p:nvSpPr>
          <p:cNvPr id="11" name="Shape 9"/>
          <p:cNvSpPr/>
          <p:nvPr/>
        </p:nvSpPr>
        <p:spPr>
          <a:xfrm>
            <a:off x="365760" y="2249424"/>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2" name="Shape 10"/>
          <p:cNvSpPr/>
          <p:nvPr/>
        </p:nvSpPr>
        <p:spPr>
          <a:xfrm>
            <a:off x="502920" y="2404872"/>
            <a:ext cx="91440" cy="91440"/>
          </a:xfrm>
          <a:prstGeom prst="ellipse">
            <a:avLst/>
          </a:prstGeom>
          <a:solidFill>
            <a:srgbClr val="58A6FF"/>
          </a:solidFill>
          <a:ln/>
        </p:spPr>
      </p:sp>
      <p:sp>
        <p:nvSpPr>
          <p:cNvPr id="13" name="Text 11"/>
          <p:cNvSpPr/>
          <p:nvPr/>
        </p:nvSpPr>
        <p:spPr>
          <a:xfrm>
            <a:off x="685800" y="2286000"/>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Prioritize Python and SQL — these appear in over 95% of listings.</a:t>
            </a:r>
            <a:endParaRPr lang="en-US" sz="1000" dirty="0"/>
          </a:p>
        </p:txBody>
      </p:sp>
      <p:sp>
        <p:nvSpPr>
          <p:cNvPr id="14" name="Shape 12"/>
          <p:cNvSpPr/>
          <p:nvPr/>
        </p:nvSpPr>
        <p:spPr>
          <a:xfrm>
            <a:off x="365760" y="2871216"/>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5" name="Shape 13"/>
          <p:cNvSpPr/>
          <p:nvPr/>
        </p:nvSpPr>
        <p:spPr>
          <a:xfrm>
            <a:off x="502920" y="3026664"/>
            <a:ext cx="91440" cy="91440"/>
          </a:xfrm>
          <a:prstGeom prst="ellipse">
            <a:avLst/>
          </a:prstGeom>
          <a:solidFill>
            <a:srgbClr val="58A6FF"/>
          </a:solidFill>
          <a:ln/>
        </p:spPr>
      </p:sp>
      <p:sp>
        <p:nvSpPr>
          <p:cNvPr id="16" name="Text 14"/>
          <p:cNvSpPr/>
          <p:nvPr/>
        </p:nvSpPr>
        <p:spPr>
          <a:xfrm>
            <a:off x="685800" y="2907792"/>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Consider pursuing a Masters or PhD to access the higher salary tiers.</a:t>
            </a:r>
            <a:endParaRPr lang="en-US" sz="1000" dirty="0"/>
          </a:p>
        </p:txBody>
      </p:sp>
      <p:sp>
        <p:nvSpPr>
          <p:cNvPr id="17" name="Shape 15"/>
          <p:cNvSpPr/>
          <p:nvPr/>
        </p:nvSpPr>
        <p:spPr>
          <a:xfrm>
            <a:off x="365760" y="3493008"/>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18" name="Shape 16"/>
          <p:cNvSpPr/>
          <p:nvPr/>
        </p:nvSpPr>
        <p:spPr>
          <a:xfrm>
            <a:off x="502920" y="3648456"/>
            <a:ext cx="91440" cy="91440"/>
          </a:xfrm>
          <a:prstGeom prst="ellipse">
            <a:avLst/>
          </a:prstGeom>
          <a:solidFill>
            <a:srgbClr val="58A6FF"/>
          </a:solidFill>
          <a:ln/>
        </p:spPr>
      </p:sp>
      <p:sp>
        <p:nvSpPr>
          <p:cNvPr id="19" name="Text 17"/>
          <p:cNvSpPr/>
          <p:nvPr/>
        </p:nvSpPr>
        <p:spPr>
          <a:xfrm>
            <a:off x="685800" y="3529584"/>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Develop cloud skills (AWS) and big data tools (Spark, Hadoop) as secondary differentiators.</a:t>
            </a:r>
            <a:endParaRPr lang="en-US" sz="1000" dirty="0"/>
          </a:p>
        </p:txBody>
      </p:sp>
      <p:sp>
        <p:nvSpPr>
          <p:cNvPr id="20" name="Shape 18"/>
          <p:cNvSpPr/>
          <p:nvPr/>
        </p:nvSpPr>
        <p:spPr>
          <a:xfrm>
            <a:off x="365760" y="4114800"/>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1" name="Shape 19"/>
          <p:cNvSpPr/>
          <p:nvPr/>
        </p:nvSpPr>
        <p:spPr>
          <a:xfrm>
            <a:off x="502920" y="4270248"/>
            <a:ext cx="91440" cy="91440"/>
          </a:xfrm>
          <a:prstGeom prst="ellipse">
            <a:avLst/>
          </a:prstGeom>
          <a:solidFill>
            <a:srgbClr val="58A6FF"/>
          </a:solidFill>
          <a:ln/>
        </p:spPr>
      </p:sp>
      <p:sp>
        <p:nvSpPr>
          <p:cNvPr id="22" name="Text 20"/>
          <p:cNvSpPr/>
          <p:nvPr/>
        </p:nvSpPr>
        <p:spPr>
          <a:xfrm>
            <a:off x="685800" y="4151376"/>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Build a portfolio that showcases Data Scientist or ML Engineer skills — both high-demand and high-paying.</a:t>
            </a:r>
            <a:endParaRPr lang="en-US" sz="1000" dirty="0"/>
          </a:p>
        </p:txBody>
      </p:sp>
      <p:sp>
        <p:nvSpPr>
          <p:cNvPr id="23" name="Shape 21"/>
          <p:cNvSpPr/>
          <p:nvPr/>
        </p:nvSpPr>
        <p:spPr>
          <a:xfrm>
            <a:off x="4754880" y="1170432"/>
            <a:ext cx="4023360" cy="384048"/>
          </a:xfrm>
          <a:prstGeom prst="rect">
            <a:avLst/>
          </a:prstGeom>
          <a:solidFill>
            <a:srgbClr val="39D0D8">
              <a:alpha val="15000"/>
            </a:srgbClr>
          </a:solidFill>
          <a:ln/>
        </p:spPr>
      </p:sp>
      <p:sp>
        <p:nvSpPr>
          <p:cNvPr id="24" name="Text 22"/>
          <p:cNvSpPr/>
          <p:nvPr/>
        </p:nvSpPr>
        <p:spPr>
          <a:xfrm>
            <a:off x="4846320" y="1216152"/>
            <a:ext cx="3840480"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  For Hiring Companies</a:t>
            </a:r>
            <a:endParaRPr lang="en-US" sz="1300" dirty="0"/>
          </a:p>
        </p:txBody>
      </p:sp>
      <p:sp>
        <p:nvSpPr>
          <p:cNvPr id="25" name="Shape 23"/>
          <p:cNvSpPr/>
          <p:nvPr/>
        </p:nvSpPr>
        <p:spPr>
          <a:xfrm>
            <a:off x="4754880" y="1627632"/>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6" name="Shape 24"/>
          <p:cNvSpPr/>
          <p:nvPr/>
        </p:nvSpPr>
        <p:spPr>
          <a:xfrm>
            <a:off x="4892040" y="1783080"/>
            <a:ext cx="91440" cy="91440"/>
          </a:xfrm>
          <a:prstGeom prst="ellipse">
            <a:avLst/>
          </a:prstGeom>
          <a:solidFill>
            <a:srgbClr val="39D0D8"/>
          </a:solidFill>
          <a:ln/>
        </p:spPr>
      </p:sp>
      <p:sp>
        <p:nvSpPr>
          <p:cNvPr id="27" name="Text 25"/>
          <p:cNvSpPr/>
          <p:nvPr/>
        </p:nvSpPr>
        <p:spPr>
          <a:xfrm>
            <a:off x="5074920" y="1664208"/>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Expand talent pipelines beyond California to states like Virginia and Illinois.</a:t>
            </a:r>
            <a:endParaRPr lang="en-US" sz="1000" dirty="0"/>
          </a:p>
        </p:txBody>
      </p:sp>
      <p:sp>
        <p:nvSpPr>
          <p:cNvPr id="28" name="Shape 26"/>
          <p:cNvSpPr/>
          <p:nvPr/>
        </p:nvSpPr>
        <p:spPr>
          <a:xfrm>
            <a:off x="4754880" y="2249424"/>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29" name="Shape 27"/>
          <p:cNvSpPr/>
          <p:nvPr/>
        </p:nvSpPr>
        <p:spPr>
          <a:xfrm>
            <a:off x="4892040" y="2404872"/>
            <a:ext cx="91440" cy="91440"/>
          </a:xfrm>
          <a:prstGeom prst="ellipse">
            <a:avLst/>
          </a:prstGeom>
          <a:solidFill>
            <a:srgbClr val="39D0D8"/>
          </a:solidFill>
          <a:ln/>
        </p:spPr>
      </p:sp>
      <p:sp>
        <p:nvSpPr>
          <p:cNvPr id="30" name="Text 28"/>
          <p:cNvSpPr/>
          <p:nvPr/>
        </p:nvSpPr>
        <p:spPr>
          <a:xfrm>
            <a:off x="5074920" y="2286000"/>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Offer competitive salary bands to attract ML Engineers and senior Data Scientists.</a:t>
            </a:r>
            <a:endParaRPr lang="en-US" sz="1000" dirty="0"/>
          </a:p>
        </p:txBody>
      </p:sp>
      <p:sp>
        <p:nvSpPr>
          <p:cNvPr id="31" name="Shape 29"/>
          <p:cNvSpPr/>
          <p:nvPr/>
        </p:nvSpPr>
        <p:spPr>
          <a:xfrm>
            <a:off x="4754880" y="2871216"/>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2" name="Shape 30"/>
          <p:cNvSpPr/>
          <p:nvPr/>
        </p:nvSpPr>
        <p:spPr>
          <a:xfrm>
            <a:off x="4892040" y="3026664"/>
            <a:ext cx="91440" cy="91440"/>
          </a:xfrm>
          <a:prstGeom prst="ellipse">
            <a:avLst/>
          </a:prstGeom>
          <a:solidFill>
            <a:srgbClr val="39D0D8"/>
          </a:solidFill>
          <a:ln/>
        </p:spPr>
      </p:sp>
      <p:sp>
        <p:nvSpPr>
          <p:cNvPr id="33" name="Text 31"/>
          <p:cNvSpPr/>
          <p:nvPr/>
        </p:nvSpPr>
        <p:spPr>
          <a:xfrm>
            <a:off x="5074920" y="2907792"/>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Clearly specify required skills in JDs to improve quality of applicant pools.</a:t>
            </a:r>
            <a:endParaRPr lang="en-US" sz="1000" dirty="0"/>
          </a:p>
        </p:txBody>
      </p:sp>
      <p:sp>
        <p:nvSpPr>
          <p:cNvPr id="34" name="Shape 32"/>
          <p:cNvSpPr/>
          <p:nvPr/>
        </p:nvSpPr>
        <p:spPr>
          <a:xfrm>
            <a:off x="4754880" y="3493008"/>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5" name="Shape 33"/>
          <p:cNvSpPr/>
          <p:nvPr/>
        </p:nvSpPr>
        <p:spPr>
          <a:xfrm>
            <a:off x="4892040" y="3648456"/>
            <a:ext cx="91440" cy="91440"/>
          </a:xfrm>
          <a:prstGeom prst="ellipse">
            <a:avLst/>
          </a:prstGeom>
          <a:solidFill>
            <a:srgbClr val="39D0D8"/>
          </a:solidFill>
          <a:ln/>
        </p:spPr>
      </p:sp>
      <p:sp>
        <p:nvSpPr>
          <p:cNvPr id="36" name="Text 34"/>
          <p:cNvSpPr/>
          <p:nvPr/>
        </p:nvSpPr>
        <p:spPr>
          <a:xfrm>
            <a:off x="5074920" y="3529584"/>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Consider sponsoring advanced education to build internal PhD-level talent.</a:t>
            </a:r>
            <a:endParaRPr lang="en-US" sz="1000" dirty="0"/>
          </a:p>
        </p:txBody>
      </p:sp>
      <p:sp>
        <p:nvSpPr>
          <p:cNvPr id="37" name="Shape 35"/>
          <p:cNvSpPr/>
          <p:nvPr/>
        </p:nvSpPr>
        <p:spPr>
          <a:xfrm>
            <a:off x="4754880" y="4114800"/>
            <a:ext cx="4023360" cy="530352"/>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38" name="Shape 36"/>
          <p:cNvSpPr/>
          <p:nvPr/>
        </p:nvSpPr>
        <p:spPr>
          <a:xfrm>
            <a:off x="4892040" y="4270248"/>
            <a:ext cx="91440" cy="91440"/>
          </a:xfrm>
          <a:prstGeom prst="ellipse">
            <a:avLst/>
          </a:prstGeom>
          <a:solidFill>
            <a:srgbClr val="39D0D8"/>
          </a:solidFill>
          <a:ln/>
        </p:spPr>
      </p:sp>
      <p:sp>
        <p:nvSpPr>
          <p:cNvPr id="39" name="Text 37"/>
          <p:cNvSpPr/>
          <p:nvPr/>
        </p:nvSpPr>
        <p:spPr>
          <a:xfrm>
            <a:off x="5074920" y="4151376"/>
            <a:ext cx="3566160" cy="457200"/>
          </a:xfrm>
          <a:prstGeom prst="rect">
            <a:avLst/>
          </a:prstGeom>
          <a:noFill/>
          <a:ln/>
        </p:spPr>
        <p:txBody>
          <a:bodyPr wrap="square" rtlCol="0" anchor="ctr"/>
          <a:lstStyle/>
          <a:p>
            <a:pPr indent="0" marL="0">
              <a:lnSpc>
                <a:spcPct val="130000"/>
              </a:lnSpc>
              <a:buNone/>
            </a:pPr>
            <a:r>
              <a:rPr lang="en-US" sz="1000" dirty="0">
                <a:solidFill>
                  <a:srgbClr val="C9D1D9"/>
                </a:solidFill>
                <a:latin typeface="Segoe UI" pitchFamily="34" charset="0"/>
                <a:ea typeface="Segoe UI" pitchFamily="34" charset="-122"/>
                <a:cs typeface="Segoe UI" pitchFamily="34" charset="-120"/>
              </a:rPr>
              <a:t>Partner with universities in Massachusetts — a high-concentration state for data talent.</a:t>
            </a:r>
            <a:endParaRPr lang="en-US" sz="1000" dirty="0"/>
          </a:p>
        </p:txBody>
      </p:sp>
      <p:sp>
        <p:nvSpPr>
          <p:cNvPr id="40" name="Shape 38"/>
          <p:cNvSpPr/>
          <p:nvPr/>
        </p:nvSpPr>
        <p:spPr>
          <a:xfrm>
            <a:off x="0" y="4983480"/>
            <a:ext cx="9144000" cy="155448"/>
          </a:xfrm>
          <a:prstGeom prst="rect">
            <a:avLst/>
          </a:prstGeom>
          <a:solidFill>
            <a:srgbClr val="21262D"/>
          </a:solidFill>
          <a:ln/>
        </p:spPr>
      </p:sp>
      <p:sp>
        <p:nvSpPr>
          <p:cNvPr id="41" name="Text 39"/>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8A6FF"/>
          </a:solidFill>
          <a:ln/>
        </p:spPr>
      </p:sp>
      <p:sp>
        <p:nvSpPr>
          <p:cNvPr id="3" name="Text 1"/>
          <p:cNvSpPr/>
          <p:nvPr/>
        </p:nvSpPr>
        <p:spPr>
          <a:xfrm>
            <a:off x="8412480" y="137160"/>
            <a:ext cx="640080" cy="320040"/>
          </a:xfrm>
          <a:prstGeom prst="rect">
            <a:avLst/>
          </a:prstGeom>
          <a:noFill/>
          <a:ln/>
        </p:spPr>
        <p:txBody>
          <a:bodyPr wrap="square" rtlCol="0" anchor="ctr"/>
          <a:lstStyle/>
          <a:p>
            <a:pPr algn="r" indent="0" marL="0">
              <a:buNone/>
            </a:pPr>
            <a:r>
              <a:rPr lang="en-US" sz="1000" dirty="0">
                <a:solidFill>
                  <a:srgbClr val="8B949E"/>
                </a:solidFill>
                <a:latin typeface="Segoe UI" pitchFamily="34" charset="0"/>
                <a:ea typeface="Segoe UI" pitchFamily="34" charset="-122"/>
                <a:cs typeface="Segoe UI" pitchFamily="34" charset="-120"/>
              </a:rPr>
              <a:t>15</a:t>
            </a:r>
            <a:endParaRPr lang="en-US" sz="1000" dirty="0"/>
          </a:p>
        </p:txBody>
      </p:sp>
      <p:sp>
        <p:nvSpPr>
          <p:cNvPr id="4" name="Text 2"/>
          <p:cNvSpPr/>
          <p:nvPr/>
        </p:nvSpPr>
        <p:spPr>
          <a:xfrm>
            <a:off x="457200" y="137160"/>
            <a:ext cx="4572000" cy="320040"/>
          </a:xfrm>
          <a:prstGeom prst="rect">
            <a:avLst/>
          </a:prstGeom>
          <a:noFill/>
          <a:ln/>
        </p:spPr>
        <p:txBody>
          <a:bodyPr wrap="square" rtlCol="0" anchor="ctr"/>
          <a:lstStyle/>
          <a:p>
            <a:pPr indent="0" marL="0">
              <a:buNone/>
            </a:pPr>
            <a:r>
              <a:rPr lang="en-US" sz="900" spc="300" kern="0" dirty="0">
                <a:solidFill>
                  <a:srgbClr val="58A6FF"/>
                </a:solidFill>
                <a:latin typeface="Segoe UI Semibold" pitchFamily="34" charset="0"/>
                <a:ea typeface="Segoe UI Semibold" pitchFamily="34" charset="-122"/>
                <a:cs typeface="Segoe UI Semibold" pitchFamily="34" charset="-120"/>
              </a:rPr>
              <a:t>CONCLUSION</a:t>
            </a:r>
            <a:endParaRPr lang="en-US" sz="900" dirty="0"/>
          </a:p>
        </p:txBody>
      </p:sp>
      <p:sp>
        <p:nvSpPr>
          <p:cNvPr id="5" name="Text 3"/>
          <p:cNvSpPr/>
          <p:nvPr/>
        </p:nvSpPr>
        <p:spPr>
          <a:xfrm>
            <a:off x="457200" y="502920"/>
            <a:ext cx="8229600" cy="548640"/>
          </a:xfrm>
          <a:prstGeom prst="rect">
            <a:avLst/>
          </a:prstGeom>
          <a:noFill/>
          <a:ln/>
        </p:spPr>
        <p:txBody>
          <a:bodyPr wrap="square" rtlCol="0" anchor="ctr"/>
          <a:lstStyle/>
          <a:p>
            <a:pPr indent="0" marL="0">
              <a:buNone/>
            </a:pPr>
            <a:r>
              <a:rPr lang="en-US" sz="2600" b="1" dirty="0">
                <a:solidFill>
                  <a:srgbClr val="FFFFFF"/>
                </a:solidFill>
                <a:latin typeface="Segoe UI Semibold" pitchFamily="34" charset="0"/>
                <a:ea typeface="Segoe UI Semibold" pitchFamily="34" charset="-122"/>
                <a:cs typeface="Segoe UI Semibold" pitchFamily="34" charset="-120"/>
              </a:rPr>
              <a:t>Wrapping It Up</a:t>
            </a:r>
            <a:endParaRPr lang="en-US" sz="2600" dirty="0"/>
          </a:p>
        </p:txBody>
      </p:sp>
      <p:sp>
        <p:nvSpPr>
          <p:cNvPr id="6" name="Shape 4"/>
          <p:cNvSpPr/>
          <p:nvPr/>
        </p:nvSpPr>
        <p:spPr>
          <a:xfrm>
            <a:off x="365760" y="1170432"/>
            <a:ext cx="8412480" cy="914400"/>
          </a:xfrm>
          <a:prstGeom prst="rect">
            <a:avLst/>
          </a:prstGeom>
          <a:solidFill>
            <a:srgbClr val="1C2333"/>
          </a:solidFill>
          <a:ln/>
          <a:effectLst>
            <a:outerShdw sx="100000" sy="100000" kx="0" ky="0" algn="bl" rotWithShape="0" blurRad="101600" dist="38100" dir="16200000">
              <a:srgbClr val="000000">
                <a:alpha val="25000"/>
              </a:srgbClr>
            </a:outerShdw>
          </a:effectLst>
        </p:spPr>
      </p:sp>
      <p:sp>
        <p:nvSpPr>
          <p:cNvPr id="7" name="Shape 5"/>
          <p:cNvSpPr/>
          <p:nvPr/>
        </p:nvSpPr>
        <p:spPr>
          <a:xfrm>
            <a:off x="365760" y="1170432"/>
            <a:ext cx="64008" cy="914400"/>
          </a:xfrm>
          <a:prstGeom prst="rect">
            <a:avLst/>
          </a:prstGeom>
          <a:solidFill>
            <a:srgbClr val="58A6FF"/>
          </a:solidFill>
          <a:ln/>
        </p:spPr>
      </p:sp>
      <p:sp>
        <p:nvSpPr>
          <p:cNvPr id="8" name="Text 6"/>
          <p:cNvSpPr/>
          <p:nvPr/>
        </p:nvSpPr>
        <p:spPr>
          <a:xfrm>
            <a:off x="594360" y="1234440"/>
            <a:ext cx="8046720" cy="804672"/>
          </a:xfrm>
          <a:prstGeom prst="rect">
            <a:avLst/>
          </a:prstGeom>
          <a:noFill/>
          <a:ln/>
        </p:spPr>
        <p:txBody>
          <a:bodyPr wrap="square" rtlCol="0" anchor="ctr"/>
          <a:lstStyle/>
          <a:p>
            <a:pPr indent="0" marL="0">
              <a:lnSpc>
                <a:spcPct val="150000"/>
              </a:lnSpc>
              <a:buNone/>
            </a:pPr>
            <a:r>
              <a:rPr lang="en-US" sz="1200" dirty="0">
                <a:solidFill>
                  <a:srgbClr val="C9D1D9"/>
                </a:solidFill>
                <a:latin typeface="Segoe UI" pitchFamily="34" charset="0"/>
                <a:ea typeface="Segoe UI" pitchFamily="34" charset="-122"/>
                <a:cs typeface="Segoe UI" pitchFamily="34" charset="-120"/>
              </a:rPr>
              <a:t>This project provided a comprehensive view of the data science job market across the United States using SQL for data extraction and Power BI for visualization. The analysis uncovered meaningful patterns in salary distribution, hiring trends, skill demand, and the impact of education on compensation.</a:t>
            </a:r>
            <a:endParaRPr lang="en-US" sz="1200" dirty="0"/>
          </a:p>
        </p:txBody>
      </p:sp>
      <p:sp>
        <p:nvSpPr>
          <p:cNvPr id="9" name="Text 7"/>
          <p:cNvSpPr/>
          <p:nvPr/>
        </p:nvSpPr>
        <p:spPr>
          <a:xfrm>
            <a:off x="365760" y="2240280"/>
            <a:ext cx="8229600" cy="347472"/>
          </a:xfrm>
          <a:prstGeom prst="rect">
            <a:avLst/>
          </a:prstGeom>
          <a:noFill/>
          <a:ln/>
        </p:spPr>
        <p:txBody>
          <a:bodyPr wrap="square" rtlCol="0" anchor="ctr"/>
          <a:lstStyle/>
          <a:p>
            <a:pPr indent="0" marL="0">
              <a:buNone/>
            </a:pPr>
            <a:r>
              <a:rPr lang="en-US" sz="1400" b="1" dirty="0">
                <a:solidFill>
                  <a:srgbClr val="C9D1D9"/>
                </a:solidFill>
                <a:latin typeface="Segoe UI Semibold" pitchFamily="34" charset="0"/>
                <a:ea typeface="Segoe UI Semibold" pitchFamily="34" charset="-122"/>
                <a:cs typeface="Segoe UI Semibold" pitchFamily="34" charset="-120"/>
              </a:rPr>
              <a:t>Skills Developed During This Project</a:t>
            </a:r>
            <a:endParaRPr lang="en-US" sz="1400" dirty="0"/>
          </a:p>
        </p:txBody>
      </p:sp>
      <p:sp>
        <p:nvSpPr>
          <p:cNvPr id="10" name="Shape 8"/>
          <p:cNvSpPr/>
          <p:nvPr/>
        </p:nvSpPr>
        <p:spPr>
          <a:xfrm>
            <a:off x="365760" y="269748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11" name="Shape 9"/>
          <p:cNvSpPr/>
          <p:nvPr/>
        </p:nvSpPr>
        <p:spPr>
          <a:xfrm>
            <a:off x="365760" y="2697480"/>
            <a:ext cx="2670048" cy="64008"/>
          </a:xfrm>
          <a:prstGeom prst="rect">
            <a:avLst/>
          </a:prstGeom>
          <a:solidFill>
            <a:srgbClr val="58A6FF"/>
          </a:solidFill>
          <a:ln/>
        </p:spPr>
      </p:sp>
      <p:sp>
        <p:nvSpPr>
          <p:cNvPr id="12" name="Text 10"/>
          <p:cNvSpPr/>
          <p:nvPr/>
        </p:nvSpPr>
        <p:spPr>
          <a:xfrm>
            <a:off x="475488" y="280720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SQL Querying</a:t>
            </a:r>
            <a:endParaRPr lang="en-US" sz="1100" dirty="0"/>
          </a:p>
        </p:txBody>
      </p:sp>
      <p:sp>
        <p:nvSpPr>
          <p:cNvPr id="13" name="Text 11"/>
          <p:cNvSpPr/>
          <p:nvPr/>
        </p:nvSpPr>
        <p:spPr>
          <a:xfrm>
            <a:off x="475488" y="310896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Wrote aggregation, grouping &amp; ordering queries on real data</a:t>
            </a:r>
            <a:endParaRPr lang="en-US" sz="900" dirty="0"/>
          </a:p>
        </p:txBody>
      </p:sp>
      <p:sp>
        <p:nvSpPr>
          <p:cNvPr id="14" name="Shape 12"/>
          <p:cNvSpPr/>
          <p:nvPr/>
        </p:nvSpPr>
        <p:spPr>
          <a:xfrm>
            <a:off x="3218688" y="269748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15" name="Shape 13"/>
          <p:cNvSpPr/>
          <p:nvPr/>
        </p:nvSpPr>
        <p:spPr>
          <a:xfrm>
            <a:off x="3218688" y="2697480"/>
            <a:ext cx="2670048" cy="64008"/>
          </a:xfrm>
          <a:prstGeom prst="rect">
            <a:avLst/>
          </a:prstGeom>
          <a:solidFill>
            <a:srgbClr val="58A6FF"/>
          </a:solidFill>
          <a:ln/>
        </p:spPr>
      </p:sp>
      <p:sp>
        <p:nvSpPr>
          <p:cNvPr id="16" name="Text 14"/>
          <p:cNvSpPr/>
          <p:nvPr/>
        </p:nvSpPr>
        <p:spPr>
          <a:xfrm>
            <a:off x="3328416" y="280720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Power Query</a:t>
            </a:r>
            <a:endParaRPr lang="en-US" sz="1100" dirty="0"/>
          </a:p>
        </p:txBody>
      </p:sp>
      <p:sp>
        <p:nvSpPr>
          <p:cNvPr id="17" name="Text 15"/>
          <p:cNvSpPr/>
          <p:nvPr/>
        </p:nvSpPr>
        <p:spPr>
          <a:xfrm>
            <a:off x="3328416" y="310896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Cleaned and transformed messy salary and location data</a:t>
            </a:r>
            <a:endParaRPr lang="en-US" sz="900" dirty="0"/>
          </a:p>
        </p:txBody>
      </p:sp>
      <p:sp>
        <p:nvSpPr>
          <p:cNvPr id="18" name="Shape 16"/>
          <p:cNvSpPr/>
          <p:nvPr/>
        </p:nvSpPr>
        <p:spPr>
          <a:xfrm>
            <a:off x="6071616" y="269748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19" name="Shape 17"/>
          <p:cNvSpPr/>
          <p:nvPr/>
        </p:nvSpPr>
        <p:spPr>
          <a:xfrm>
            <a:off x="6071616" y="2697480"/>
            <a:ext cx="2670048" cy="64008"/>
          </a:xfrm>
          <a:prstGeom prst="rect">
            <a:avLst/>
          </a:prstGeom>
          <a:solidFill>
            <a:srgbClr val="58A6FF"/>
          </a:solidFill>
          <a:ln/>
        </p:spPr>
      </p:sp>
      <p:sp>
        <p:nvSpPr>
          <p:cNvPr id="20" name="Text 18"/>
          <p:cNvSpPr/>
          <p:nvPr/>
        </p:nvSpPr>
        <p:spPr>
          <a:xfrm>
            <a:off x="6181344" y="280720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DAX Formulas</a:t>
            </a:r>
            <a:endParaRPr lang="en-US" sz="1100" dirty="0"/>
          </a:p>
        </p:txBody>
      </p:sp>
      <p:sp>
        <p:nvSpPr>
          <p:cNvPr id="21" name="Text 19"/>
          <p:cNvSpPr/>
          <p:nvPr/>
        </p:nvSpPr>
        <p:spPr>
          <a:xfrm>
            <a:off x="6181344" y="310896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Built KPI measures used across all dashboard visuals</a:t>
            </a:r>
            <a:endParaRPr lang="en-US" sz="900" dirty="0"/>
          </a:p>
        </p:txBody>
      </p:sp>
      <p:sp>
        <p:nvSpPr>
          <p:cNvPr id="22" name="Shape 20"/>
          <p:cNvSpPr/>
          <p:nvPr/>
        </p:nvSpPr>
        <p:spPr>
          <a:xfrm>
            <a:off x="365760" y="370332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23" name="Shape 21"/>
          <p:cNvSpPr/>
          <p:nvPr/>
        </p:nvSpPr>
        <p:spPr>
          <a:xfrm>
            <a:off x="365760" y="3703320"/>
            <a:ext cx="2670048" cy="64008"/>
          </a:xfrm>
          <a:prstGeom prst="rect">
            <a:avLst/>
          </a:prstGeom>
          <a:solidFill>
            <a:srgbClr val="58A6FF"/>
          </a:solidFill>
          <a:ln/>
        </p:spPr>
      </p:sp>
      <p:sp>
        <p:nvSpPr>
          <p:cNvPr id="24" name="Text 22"/>
          <p:cNvSpPr/>
          <p:nvPr/>
        </p:nvSpPr>
        <p:spPr>
          <a:xfrm>
            <a:off x="475488" y="381304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Data Storytelling</a:t>
            </a:r>
            <a:endParaRPr lang="en-US" sz="1100" dirty="0"/>
          </a:p>
        </p:txBody>
      </p:sp>
      <p:sp>
        <p:nvSpPr>
          <p:cNvPr id="25" name="Text 23"/>
          <p:cNvSpPr/>
          <p:nvPr/>
        </p:nvSpPr>
        <p:spPr>
          <a:xfrm>
            <a:off x="475488" y="411480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Turned raw numbers into actionable hiring insights</a:t>
            </a:r>
            <a:endParaRPr lang="en-US" sz="900" dirty="0"/>
          </a:p>
        </p:txBody>
      </p:sp>
      <p:sp>
        <p:nvSpPr>
          <p:cNvPr id="26" name="Shape 24"/>
          <p:cNvSpPr/>
          <p:nvPr/>
        </p:nvSpPr>
        <p:spPr>
          <a:xfrm>
            <a:off x="3218688" y="370332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27" name="Shape 25"/>
          <p:cNvSpPr/>
          <p:nvPr/>
        </p:nvSpPr>
        <p:spPr>
          <a:xfrm>
            <a:off x="3218688" y="3703320"/>
            <a:ext cx="2670048" cy="64008"/>
          </a:xfrm>
          <a:prstGeom prst="rect">
            <a:avLst/>
          </a:prstGeom>
          <a:solidFill>
            <a:srgbClr val="58A6FF"/>
          </a:solidFill>
          <a:ln/>
        </p:spPr>
      </p:sp>
      <p:sp>
        <p:nvSpPr>
          <p:cNvPr id="28" name="Text 26"/>
          <p:cNvSpPr/>
          <p:nvPr/>
        </p:nvSpPr>
        <p:spPr>
          <a:xfrm>
            <a:off x="3328416" y="381304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Dashboard Design</a:t>
            </a:r>
            <a:endParaRPr lang="en-US" sz="1100" dirty="0"/>
          </a:p>
        </p:txBody>
      </p:sp>
      <p:sp>
        <p:nvSpPr>
          <p:cNvPr id="29" name="Text 27"/>
          <p:cNvSpPr/>
          <p:nvPr/>
        </p:nvSpPr>
        <p:spPr>
          <a:xfrm>
            <a:off x="3328416" y="411480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Designed a clean, filterable Power BI dashboard</a:t>
            </a:r>
            <a:endParaRPr lang="en-US" sz="900" dirty="0"/>
          </a:p>
        </p:txBody>
      </p:sp>
      <p:sp>
        <p:nvSpPr>
          <p:cNvPr id="30" name="Shape 28"/>
          <p:cNvSpPr/>
          <p:nvPr/>
        </p:nvSpPr>
        <p:spPr>
          <a:xfrm>
            <a:off x="6071616" y="3703320"/>
            <a:ext cx="2670048" cy="822960"/>
          </a:xfrm>
          <a:prstGeom prst="rect">
            <a:avLst/>
          </a:prstGeom>
          <a:solidFill>
            <a:srgbClr val="21262D"/>
          </a:solidFill>
          <a:ln/>
          <a:effectLst>
            <a:outerShdw sx="100000" sy="100000" kx="0" ky="0" algn="bl" rotWithShape="0" blurRad="101600" dist="38100" dir="16200000">
              <a:srgbClr val="000000">
                <a:alpha val="25000"/>
              </a:srgbClr>
            </a:outerShdw>
          </a:effectLst>
        </p:spPr>
      </p:sp>
      <p:sp>
        <p:nvSpPr>
          <p:cNvPr id="31" name="Shape 29"/>
          <p:cNvSpPr/>
          <p:nvPr/>
        </p:nvSpPr>
        <p:spPr>
          <a:xfrm>
            <a:off x="6071616" y="3703320"/>
            <a:ext cx="2670048" cy="64008"/>
          </a:xfrm>
          <a:prstGeom prst="rect">
            <a:avLst/>
          </a:prstGeom>
          <a:solidFill>
            <a:srgbClr val="58A6FF"/>
          </a:solidFill>
          <a:ln/>
        </p:spPr>
      </p:sp>
      <p:sp>
        <p:nvSpPr>
          <p:cNvPr id="32" name="Text 30"/>
          <p:cNvSpPr/>
          <p:nvPr/>
        </p:nvSpPr>
        <p:spPr>
          <a:xfrm>
            <a:off x="6181344" y="3813048"/>
            <a:ext cx="2468880" cy="274320"/>
          </a:xfrm>
          <a:prstGeom prst="rect">
            <a:avLst/>
          </a:prstGeom>
          <a:noFill/>
          <a:ln/>
        </p:spPr>
        <p:txBody>
          <a:bodyPr wrap="square" rtlCol="0" anchor="ctr"/>
          <a:lstStyle/>
          <a:p>
            <a:pPr indent="0" marL="0">
              <a:buNone/>
            </a:pPr>
            <a:r>
              <a:rPr lang="en-US" sz="1100" b="1" dirty="0">
                <a:solidFill>
                  <a:srgbClr val="FFFFFF"/>
                </a:solidFill>
                <a:latin typeface="Segoe UI Semibold" pitchFamily="34" charset="0"/>
                <a:ea typeface="Segoe UI Semibold" pitchFamily="34" charset="-122"/>
                <a:cs typeface="Segoe UI Semibold" pitchFamily="34" charset="-120"/>
              </a:rPr>
              <a:t>Business Thinking</a:t>
            </a:r>
            <a:endParaRPr lang="en-US" sz="1100" dirty="0"/>
          </a:p>
        </p:txBody>
      </p:sp>
      <p:sp>
        <p:nvSpPr>
          <p:cNvPr id="33" name="Text 31"/>
          <p:cNvSpPr/>
          <p:nvPr/>
        </p:nvSpPr>
        <p:spPr>
          <a:xfrm>
            <a:off x="6181344" y="4114800"/>
            <a:ext cx="2468880" cy="347472"/>
          </a:xfrm>
          <a:prstGeom prst="rect">
            <a:avLst/>
          </a:prstGeom>
          <a:noFill/>
          <a:ln/>
        </p:spPr>
        <p:txBody>
          <a:bodyPr wrap="square" rtlCol="0" anchor="ctr"/>
          <a:lstStyle/>
          <a:p>
            <a:pPr indent="0" marL="0">
              <a:buNone/>
            </a:pPr>
            <a:r>
              <a:rPr lang="en-US" sz="900" dirty="0">
                <a:solidFill>
                  <a:srgbClr val="8B949E"/>
                </a:solidFill>
                <a:latin typeface="Segoe UI" pitchFamily="34" charset="0"/>
                <a:ea typeface="Segoe UI" pitchFamily="34" charset="-122"/>
                <a:cs typeface="Segoe UI" pitchFamily="34" charset="-120"/>
              </a:rPr>
              <a:t>Linked data findings to real-world hiring recommendations</a:t>
            </a:r>
            <a:endParaRPr lang="en-US" sz="900" dirty="0"/>
          </a:p>
        </p:txBody>
      </p:sp>
      <p:sp>
        <p:nvSpPr>
          <p:cNvPr id="34" name="Shape 32"/>
          <p:cNvSpPr/>
          <p:nvPr/>
        </p:nvSpPr>
        <p:spPr>
          <a:xfrm>
            <a:off x="0" y="4983480"/>
            <a:ext cx="9144000" cy="155448"/>
          </a:xfrm>
          <a:prstGeom prst="rect">
            <a:avLst/>
          </a:prstGeom>
          <a:solidFill>
            <a:srgbClr val="21262D"/>
          </a:solidFill>
          <a:ln/>
        </p:spPr>
      </p:sp>
      <p:sp>
        <p:nvSpPr>
          <p:cNvPr id="35" name="Text 33"/>
          <p:cNvSpPr/>
          <p:nvPr/>
        </p:nvSpPr>
        <p:spPr>
          <a:xfrm>
            <a:off x="0" y="4983480"/>
            <a:ext cx="9144000" cy="155448"/>
          </a:xfrm>
          <a:prstGeom prst="rect">
            <a:avLst/>
          </a:prstGeom>
          <a:noFill/>
          <a:ln/>
        </p:spPr>
        <p:txBody>
          <a:bodyPr wrap="square" rtlCol="0" anchor="ctr"/>
          <a:lstStyle/>
          <a:p>
            <a:pPr algn="ctr" indent="0" marL="0">
              <a:buNone/>
            </a:pPr>
            <a:r>
              <a:rPr lang="en-US" sz="700" dirty="0">
                <a:solidFill>
                  <a:srgbClr val="8B949E"/>
                </a:solidFill>
                <a:latin typeface="Segoe UI" pitchFamily="34" charset="0"/>
                <a:ea typeface="Segoe UI" pitchFamily="34" charset="-122"/>
                <a:cs typeface="Segoe UI" pitchFamily="34" charset="-120"/>
              </a:rPr>
              <a:t>Job Market Analysis using SQL and Power BI</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6858000" y="3200400"/>
            <a:ext cx="3200400" cy="3200400"/>
          </a:xfrm>
          <a:prstGeom prst="ellipse">
            <a:avLst/>
          </a:prstGeom>
          <a:solidFill>
            <a:srgbClr val="58A6FF">
              <a:alpha val="7000"/>
            </a:srgbClr>
          </a:solidFill>
          <a:ln w="12700">
            <a:solidFill>
              <a:srgbClr val="58A6FF">
                <a:alpha val="20000"/>
              </a:srgbClr>
            </a:solidFill>
            <a:prstDash val="solid"/>
          </a:ln>
        </p:spPr>
      </p:sp>
      <p:sp>
        <p:nvSpPr>
          <p:cNvPr id="3" name="Shape 1"/>
          <p:cNvSpPr/>
          <p:nvPr/>
        </p:nvSpPr>
        <p:spPr>
          <a:xfrm>
            <a:off x="-1097280" y="-731520"/>
            <a:ext cx="2743200" cy="2743200"/>
          </a:xfrm>
          <a:prstGeom prst="ellipse">
            <a:avLst/>
          </a:prstGeom>
          <a:solidFill>
            <a:srgbClr val="39D0D8">
              <a:alpha val="7000"/>
            </a:srgbClr>
          </a:solidFill>
          <a:ln w="12700">
            <a:solidFill>
              <a:srgbClr val="39D0D8">
                <a:alpha val="20000"/>
              </a:srgbClr>
            </a:solidFill>
            <a:prstDash val="solid"/>
          </a:ln>
        </p:spPr>
      </p:sp>
      <p:sp>
        <p:nvSpPr>
          <p:cNvPr id="4" name="Shape 2"/>
          <p:cNvSpPr/>
          <p:nvPr/>
        </p:nvSpPr>
        <p:spPr>
          <a:xfrm>
            <a:off x="0" y="0"/>
            <a:ext cx="9144000" cy="64008"/>
          </a:xfrm>
          <a:prstGeom prst="rect">
            <a:avLst/>
          </a:prstGeom>
          <a:solidFill>
            <a:srgbClr val="58A6FF"/>
          </a:solidFill>
          <a:ln/>
        </p:spPr>
      </p:sp>
      <p:sp>
        <p:nvSpPr>
          <p:cNvPr id="5" name="Shape 3"/>
          <p:cNvSpPr/>
          <p:nvPr/>
        </p:nvSpPr>
        <p:spPr>
          <a:xfrm>
            <a:off x="0" y="5074920"/>
            <a:ext cx="9144000" cy="64008"/>
          </a:xfrm>
          <a:prstGeom prst="rect">
            <a:avLst/>
          </a:prstGeom>
          <a:solidFill>
            <a:srgbClr val="58A6FF"/>
          </a:solidFill>
          <a:ln/>
        </p:spPr>
      </p:sp>
      <p:sp>
        <p:nvSpPr>
          <p:cNvPr id="6" name="Text 4"/>
          <p:cNvSpPr/>
          <p:nvPr/>
        </p:nvSpPr>
        <p:spPr>
          <a:xfrm>
            <a:off x="457200" y="1097280"/>
            <a:ext cx="8229600" cy="914400"/>
          </a:xfrm>
          <a:prstGeom prst="rect">
            <a:avLst/>
          </a:prstGeom>
          <a:noFill/>
          <a:ln/>
        </p:spPr>
        <p:txBody>
          <a:bodyPr wrap="square" rtlCol="0" anchor="ctr"/>
          <a:lstStyle/>
          <a:p>
            <a:pPr algn="ctr" indent="0" marL="0">
              <a:buNone/>
            </a:pPr>
            <a:r>
              <a:rPr lang="en-US" sz="5200" b="1" dirty="0">
                <a:solidFill>
                  <a:srgbClr val="FFFFFF"/>
                </a:solidFill>
                <a:latin typeface="Segoe UI Semibold" pitchFamily="34" charset="0"/>
                <a:ea typeface="Segoe UI Semibold" pitchFamily="34" charset="-122"/>
                <a:cs typeface="Segoe UI Semibold" pitchFamily="34" charset="-120"/>
              </a:rPr>
              <a:t>Thank You</a:t>
            </a:r>
            <a:endParaRPr lang="en-US" sz="5200" dirty="0"/>
          </a:p>
        </p:txBody>
      </p:sp>
      <p:sp>
        <p:nvSpPr>
          <p:cNvPr id="7" name="Text 5"/>
          <p:cNvSpPr/>
          <p:nvPr/>
        </p:nvSpPr>
        <p:spPr>
          <a:xfrm>
            <a:off x="457200" y="2057400"/>
            <a:ext cx="8229600" cy="457200"/>
          </a:xfrm>
          <a:prstGeom prst="rect">
            <a:avLst/>
          </a:prstGeom>
          <a:noFill/>
          <a:ln/>
        </p:spPr>
        <p:txBody>
          <a:bodyPr wrap="square" rtlCol="0" anchor="ctr"/>
          <a:lstStyle/>
          <a:p>
            <a:pPr algn="ctr" indent="0" marL="0">
              <a:buNone/>
            </a:pPr>
            <a:r>
              <a:rPr lang="en-US" sz="2000" dirty="0">
                <a:solidFill>
                  <a:srgbClr val="C9D1D9"/>
                </a:solidFill>
                <a:latin typeface="Segoe UI" pitchFamily="34" charset="0"/>
                <a:ea typeface="Segoe UI" pitchFamily="34" charset="-122"/>
                <a:cs typeface="Segoe UI" pitchFamily="34" charset="-120"/>
              </a:rPr>
              <a:t>for your time and attention</a:t>
            </a:r>
            <a:endParaRPr lang="en-US" sz="2000" dirty="0"/>
          </a:p>
        </p:txBody>
      </p:sp>
      <p:sp>
        <p:nvSpPr>
          <p:cNvPr id="8" name="Shape 6"/>
          <p:cNvSpPr/>
          <p:nvPr/>
        </p:nvSpPr>
        <p:spPr>
          <a:xfrm>
            <a:off x="3200400" y="2651760"/>
            <a:ext cx="2743200" cy="36576"/>
          </a:xfrm>
          <a:prstGeom prst="rect">
            <a:avLst/>
          </a:prstGeom>
          <a:solidFill>
            <a:srgbClr val="58A6FF">
              <a:alpha val="60000"/>
            </a:srgbClr>
          </a:solidFill>
          <a:ln/>
        </p:spPr>
      </p:sp>
      <p:sp>
        <p:nvSpPr>
          <p:cNvPr id="9" name="Text 7"/>
          <p:cNvSpPr/>
          <p:nvPr/>
        </p:nvSpPr>
        <p:spPr>
          <a:xfrm>
            <a:off x="457200" y="2880360"/>
            <a:ext cx="8229600" cy="411480"/>
          </a:xfrm>
          <a:prstGeom prst="rect">
            <a:avLst/>
          </a:prstGeom>
          <a:noFill/>
          <a:ln/>
        </p:spPr>
        <p:txBody>
          <a:bodyPr wrap="square" rtlCol="0" anchor="ctr"/>
          <a:lstStyle/>
          <a:p>
            <a:pPr algn="ctr" indent="0" marL="0">
              <a:buNone/>
            </a:pPr>
            <a:r>
              <a:rPr lang="en-US" sz="1600" dirty="0">
                <a:solidFill>
                  <a:srgbClr val="58A6FF"/>
                </a:solidFill>
                <a:latin typeface="Segoe UI Semibold" pitchFamily="34" charset="0"/>
                <a:ea typeface="Segoe UI Semibold" pitchFamily="34" charset="-122"/>
                <a:cs typeface="Segoe UI Semibold" pitchFamily="34" charset="-120"/>
              </a:rPr>
              <a:t>Job Market Analysis using SQL and Power BI</a:t>
            </a:r>
            <a:endParaRPr lang="en-US" sz="1600" dirty="0"/>
          </a:p>
        </p:txBody>
      </p:sp>
      <p:sp>
        <p:nvSpPr>
          <p:cNvPr id="10" name="Text 8"/>
          <p:cNvSpPr/>
          <p:nvPr/>
        </p:nvSpPr>
        <p:spPr>
          <a:xfrm>
            <a:off x="457200" y="3337560"/>
            <a:ext cx="8229600" cy="320040"/>
          </a:xfrm>
          <a:prstGeom prst="rect">
            <a:avLst/>
          </a:prstGeom>
          <a:noFill/>
          <a:ln/>
        </p:spPr>
        <p:txBody>
          <a:bodyPr wrap="square" rtlCol="0" anchor="ctr"/>
          <a:lstStyle/>
          <a:p>
            <a:pPr algn="ctr" indent="0" marL="0">
              <a:buNone/>
            </a:pPr>
            <a:r>
              <a:rPr lang="en-US" sz="1200" dirty="0">
                <a:solidFill>
                  <a:srgbClr val="8B949E"/>
                </a:solidFill>
                <a:latin typeface="Segoe UI" pitchFamily="34" charset="0"/>
                <a:ea typeface="Segoe UI" pitchFamily="34" charset="-122"/>
                <a:cs typeface="Segoe UI" pitchFamily="34" charset="-120"/>
              </a:rPr>
              <a:t>Data Analyst Internship Project  ·  2026</a:t>
            </a:r>
            <a:endParaRPr lang="en-US" sz="1200" dirty="0"/>
          </a:p>
        </p:txBody>
      </p:sp>
      <p:sp>
        <p:nvSpPr>
          <p:cNvPr id="11" name="Text 9"/>
          <p:cNvSpPr/>
          <p:nvPr/>
        </p:nvSpPr>
        <p:spPr>
          <a:xfrm>
            <a:off x="1097280" y="3931920"/>
            <a:ext cx="1371600" cy="502920"/>
          </a:xfrm>
          <a:prstGeom prst="rect">
            <a:avLst/>
          </a:prstGeom>
          <a:noFill/>
          <a:ln/>
        </p:spPr>
        <p:txBody>
          <a:bodyPr wrap="square" rtlCol="0" anchor="ctr"/>
          <a:lstStyle/>
          <a:p>
            <a:pPr algn="ctr" indent="0" marL="0">
              <a:buNone/>
            </a:pPr>
            <a:r>
              <a:rPr lang="en-US" sz="2800" b="1" dirty="0">
                <a:solidFill>
                  <a:srgbClr val="58A6FF"/>
                </a:solidFill>
                <a:latin typeface="Segoe UI Semibold" pitchFamily="34" charset="0"/>
                <a:ea typeface="Segoe UI Semibold" pitchFamily="34" charset="-122"/>
                <a:cs typeface="Segoe UI Semibold" pitchFamily="34" charset="-120"/>
              </a:rPr>
              <a:t>742</a:t>
            </a:r>
            <a:endParaRPr lang="en-US" sz="2800" dirty="0"/>
          </a:p>
        </p:txBody>
      </p:sp>
      <p:sp>
        <p:nvSpPr>
          <p:cNvPr id="12" name="Text 10"/>
          <p:cNvSpPr/>
          <p:nvPr/>
        </p:nvSpPr>
        <p:spPr>
          <a:xfrm>
            <a:off x="1097280" y="4434840"/>
            <a:ext cx="1371600" cy="256032"/>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Jobs Analyzed</a:t>
            </a:r>
            <a:endParaRPr lang="en-US" sz="1000" dirty="0"/>
          </a:p>
        </p:txBody>
      </p:sp>
      <p:sp>
        <p:nvSpPr>
          <p:cNvPr id="13" name="Text 11"/>
          <p:cNvSpPr/>
          <p:nvPr/>
        </p:nvSpPr>
        <p:spPr>
          <a:xfrm>
            <a:off x="2926080" y="3931920"/>
            <a:ext cx="1371600" cy="502920"/>
          </a:xfrm>
          <a:prstGeom prst="rect">
            <a:avLst/>
          </a:prstGeom>
          <a:noFill/>
          <a:ln/>
        </p:spPr>
        <p:txBody>
          <a:bodyPr wrap="square" rtlCol="0" anchor="ctr"/>
          <a:lstStyle/>
          <a:p>
            <a:pPr algn="ctr" indent="0" marL="0">
              <a:buNone/>
            </a:pPr>
            <a:r>
              <a:rPr lang="en-US" sz="2800" b="1" dirty="0">
                <a:solidFill>
                  <a:srgbClr val="58A6FF"/>
                </a:solidFill>
                <a:latin typeface="Segoe UI Semibold" pitchFamily="34" charset="0"/>
                <a:ea typeface="Segoe UI Semibold" pitchFamily="34" charset="-122"/>
                <a:cs typeface="Segoe UI Semibold" pitchFamily="34" charset="-120"/>
              </a:rPr>
              <a:t>42</a:t>
            </a:r>
            <a:endParaRPr lang="en-US" sz="2800" dirty="0"/>
          </a:p>
        </p:txBody>
      </p:sp>
      <p:sp>
        <p:nvSpPr>
          <p:cNvPr id="14" name="Text 12"/>
          <p:cNvSpPr/>
          <p:nvPr/>
        </p:nvSpPr>
        <p:spPr>
          <a:xfrm>
            <a:off x="2926080" y="4434840"/>
            <a:ext cx="1371600" cy="256032"/>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Features</a:t>
            </a:r>
            <a:endParaRPr lang="en-US" sz="1000" dirty="0"/>
          </a:p>
        </p:txBody>
      </p:sp>
      <p:sp>
        <p:nvSpPr>
          <p:cNvPr id="15" name="Text 13"/>
          <p:cNvSpPr/>
          <p:nvPr/>
        </p:nvSpPr>
        <p:spPr>
          <a:xfrm>
            <a:off x="4754880" y="3931920"/>
            <a:ext cx="1371600" cy="502920"/>
          </a:xfrm>
          <a:prstGeom prst="rect">
            <a:avLst/>
          </a:prstGeom>
          <a:noFill/>
          <a:ln/>
        </p:spPr>
        <p:txBody>
          <a:bodyPr wrap="square" rtlCol="0" anchor="ctr"/>
          <a:lstStyle/>
          <a:p>
            <a:pPr algn="ctr" indent="0" marL="0">
              <a:buNone/>
            </a:pPr>
            <a:r>
              <a:rPr lang="en-US" sz="2800" b="1" dirty="0">
                <a:solidFill>
                  <a:srgbClr val="58A6FF"/>
                </a:solidFill>
                <a:latin typeface="Segoe UI Semibold" pitchFamily="34" charset="0"/>
                <a:ea typeface="Segoe UI Semibold" pitchFamily="34" charset="-122"/>
                <a:cs typeface="Segoe UI Semibold" pitchFamily="34" charset="-120"/>
              </a:rPr>
              <a:t>10</a:t>
            </a:r>
            <a:endParaRPr lang="en-US" sz="2800" dirty="0"/>
          </a:p>
        </p:txBody>
      </p:sp>
      <p:sp>
        <p:nvSpPr>
          <p:cNvPr id="16" name="Text 14"/>
          <p:cNvSpPr/>
          <p:nvPr/>
        </p:nvSpPr>
        <p:spPr>
          <a:xfrm>
            <a:off x="4754880" y="4434840"/>
            <a:ext cx="1371600" cy="256032"/>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Key Insights</a:t>
            </a:r>
            <a:endParaRPr lang="en-US" sz="1000" dirty="0"/>
          </a:p>
        </p:txBody>
      </p:sp>
      <p:sp>
        <p:nvSpPr>
          <p:cNvPr id="17" name="Text 15"/>
          <p:cNvSpPr/>
          <p:nvPr/>
        </p:nvSpPr>
        <p:spPr>
          <a:xfrm>
            <a:off x="6583680" y="3931920"/>
            <a:ext cx="1371600" cy="502920"/>
          </a:xfrm>
          <a:prstGeom prst="rect">
            <a:avLst/>
          </a:prstGeom>
          <a:noFill/>
          <a:ln/>
        </p:spPr>
        <p:txBody>
          <a:bodyPr wrap="square" rtlCol="0" anchor="ctr"/>
          <a:lstStyle/>
          <a:p>
            <a:pPr algn="ctr" indent="0" marL="0">
              <a:buNone/>
            </a:pPr>
            <a:r>
              <a:rPr lang="en-US" sz="2800" b="1" dirty="0">
                <a:solidFill>
                  <a:srgbClr val="58A6FF"/>
                </a:solidFill>
                <a:latin typeface="Segoe UI Semibold" pitchFamily="34" charset="0"/>
                <a:ea typeface="Segoe UI Semibold" pitchFamily="34" charset="-122"/>
                <a:cs typeface="Segoe UI Semibold" pitchFamily="34" charset="-120"/>
              </a:rPr>
              <a:t>4</a:t>
            </a:r>
            <a:endParaRPr lang="en-US" sz="2800" dirty="0"/>
          </a:p>
        </p:txBody>
      </p:sp>
      <p:sp>
        <p:nvSpPr>
          <p:cNvPr id="18" name="Text 16"/>
          <p:cNvSpPr/>
          <p:nvPr/>
        </p:nvSpPr>
        <p:spPr>
          <a:xfrm>
            <a:off x="6583680" y="4434840"/>
            <a:ext cx="1371600" cy="256032"/>
          </a:xfrm>
          <a:prstGeom prst="rect">
            <a:avLst/>
          </a:prstGeom>
          <a:noFill/>
          <a:ln/>
        </p:spPr>
        <p:txBody>
          <a:bodyPr wrap="square" rtlCol="0" anchor="ctr"/>
          <a:lstStyle/>
          <a:p>
            <a:pPr algn="ctr" indent="0" marL="0">
              <a:buNone/>
            </a:pPr>
            <a:r>
              <a:rPr lang="en-US" sz="1000" dirty="0">
                <a:solidFill>
                  <a:srgbClr val="8B949E"/>
                </a:solidFill>
                <a:latin typeface="Segoe UI" pitchFamily="34" charset="0"/>
                <a:ea typeface="Segoe UI" pitchFamily="34" charset="-122"/>
                <a:cs typeface="Segoe UI" pitchFamily="34" charset="-120"/>
              </a:rPr>
              <a:t>Tools Used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Analysis using SQL and Power BI</dc:title>
  <dc:subject>PptxGenJS Presentation</dc:subject>
  <dc:creator>Data Analyst Intern</dc:creator>
  <cp:lastModifiedBy>Data Analyst Intern</cp:lastModifiedBy>
  <cp:revision>1</cp:revision>
  <dcterms:created xsi:type="dcterms:W3CDTF">2026-05-09T13:19:55Z</dcterms:created>
  <dcterms:modified xsi:type="dcterms:W3CDTF">2026-05-09T13:19:55Z</dcterms:modified>
</cp:coreProperties>
</file>